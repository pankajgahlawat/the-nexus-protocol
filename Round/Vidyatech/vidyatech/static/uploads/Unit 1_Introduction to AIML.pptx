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79" roundtripDataSignature="AMtx7mi/bs7mE+yY3b6etMl8av52eV+C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5B08381-D11E-400C-BB2F-2556F55AF550}">
  <a:tblStyle styleId="{75B08381-D11E-400C-BB2F-2556F55AF55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customschemas.google.com/relationships/presentationmetadata" Target="metadata"/><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bc116d102d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bc116d102d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3bc116d102d_0_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bc116d102d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bc116d102d_0_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g3bc116d102d_0_1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bc116d102d_0_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bc116d102d_0_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bc116d102d_0_2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bc116d102d_0_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bc116d102d_0_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3bc116d102d_0_3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bc116d102d_0_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bc116d102d_0_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3bc116d102d_0_3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c116d102d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bc116d102d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bc116d102d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be792f7f1b_0_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be792f7f1b_0_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3be792f7f1b_0_5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bc116d102d_0_1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bc116d102d_0_1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g3bc116d102d_0_18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bc116d102d_0_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bc116d102d_0_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g3bc116d102d_0_4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bc116d102d_0_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bc116d102d_0_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g3bc116d102d_0_6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bc116d102d_0_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bc116d102d_0_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g3bc116d102d_0_8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bc116d102d_0_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bc116d102d_0_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g3bc116d102d_0_9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bc116d102d_0_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bc116d102d_0_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g3bc116d102d_0_10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bc116d102d_0_1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bc116d102d_0_1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g3bc116d102d_0_11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bc116d102d_0_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bc116d102d_0_1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g3bc116d102d_0_12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bc116d102d_0_1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bc116d102d_0_1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g3bc116d102d_0_13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bc116d102d_0_1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bc116d102d_0_1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g3bc116d102d_0_14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bc116d102d_0_1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bc116d102d_0_1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g3bc116d102d_0_14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bc116d102d_0_1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bc116d102d_0_1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g3bc116d102d_0_15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bc116d102d_0_1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bc116d102d_0_1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g3bc116d102d_0_16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bc116d102d_0_1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bc116d102d_0_1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g3bc116d102d_0_17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c2b18bd659_2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c2b18bd659_2_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g3c2b18bd659_2_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c2b18bd659_2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c2b18bd659_2_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g3c2b18bd659_2_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c2b18bd659_2_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c2b18bd659_2_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g3c2b18bd659_2_1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c2b18bd659_2_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c2b18bd659_2_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g3c2b18bd659_2_2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c2b18bd659_2_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c2b18bd659_2_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g3c2b18bd659_2_3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 name="Google Shape;514;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e792f7f1b_0_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be792f7f1b_0_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g3be792f7f1b_0_5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c6d7a0b452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c6d7a0b452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g3c6d7a0b452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be792f7f1b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be792f7f1b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g3be792f7f1b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be792f7f1b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be792f7f1b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g3be792f7f1b_0_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be792f7f1b_0_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be792f7f1b_0_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g3be792f7f1b_0_1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be792f7f1b_0_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be792f7f1b_0_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g3be792f7f1b_0_4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c6d7a0b452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c6d7a0b452_0_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g3c6d7a0b452_0_2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c6d7a0b452_0_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c6d7a0b452_0_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g3c6d7a0b452_0_3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c6d7a0b452_0_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c6d7a0b452_0_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9" name="Google Shape;579;g3c6d7a0b452_0_4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c6d7a0b452_0_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c6d7a0b452_0_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6" name="Google Shape;586;g3c6d7a0b452_0_5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c6d7a0b452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c6d7a0b452_0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g3c6d7a0b452_0_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9" name="Google Shape;599;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5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2"/>
          <p:cNvSpPr/>
          <p:nvPr>
            <p:ph idx="2" type="pic"/>
          </p:nvPr>
        </p:nvSpPr>
        <p:spPr>
          <a:xfrm>
            <a:off x="1792288" y="612775"/>
            <a:ext cx="5486400" cy="4114800"/>
          </a:xfrm>
          <a:prstGeom prst="rect">
            <a:avLst/>
          </a:prstGeom>
          <a:noFill/>
          <a:ln>
            <a:noFill/>
          </a:ln>
        </p:spPr>
      </p:sp>
      <p:sp>
        <p:nvSpPr>
          <p:cNvPr id="68" name="Google Shape;68;p5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5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Introduction to Artificial Intelligence</a:t>
            </a:r>
            <a:endParaRPr/>
          </a:p>
        </p:txBody>
      </p:sp>
      <p:sp>
        <p:nvSpPr>
          <p:cNvPr id="89" name="Google Shape;89;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lang="en-US"/>
              <a:t>Unit I</a:t>
            </a:r>
            <a:endParaRPr/>
          </a:p>
        </p:txBody>
      </p:sp>
      <p:sp>
        <p:nvSpPr>
          <p:cNvPr id="90" name="Google Shape;9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What is AI</a:t>
            </a:r>
            <a:endParaRPr/>
          </a:p>
        </p:txBody>
      </p:sp>
      <p:sp>
        <p:nvSpPr>
          <p:cNvPr id="96" name="Google Shape;96;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AI is the study of </a:t>
            </a:r>
            <a:r>
              <a:rPr i="1" lang="en-US"/>
              <a:t>agents</a:t>
            </a:r>
            <a:r>
              <a:rPr lang="en-US"/>
              <a:t> that receive </a:t>
            </a:r>
            <a:r>
              <a:rPr i="1" lang="en-US"/>
              <a:t>perceptions</a:t>
            </a:r>
            <a:r>
              <a:rPr lang="en-US"/>
              <a:t> from the environment and perform </a:t>
            </a:r>
            <a:r>
              <a:rPr i="1" lang="en-US"/>
              <a:t>actions</a:t>
            </a:r>
            <a:r>
              <a:rPr lang="en-US"/>
              <a:t>.</a:t>
            </a:r>
            <a:endParaRPr/>
          </a:p>
        </p:txBody>
      </p:sp>
      <p:sp>
        <p:nvSpPr>
          <p:cNvPr id="97" name="Google Shape;97;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Artificial Intelligent </a:t>
            </a:r>
            <a:br>
              <a:rPr lang="en-US"/>
            </a:br>
            <a:endParaRPr/>
          </a:p>
        </p:txBody>
      </p:sp>
      <p:sp>
        <p:nvSpPr>
          <p:cNvPr id="103" name="Google Shape;103;p4"/>
          <p:cNvSpPr txBox="1"/>
          <p:nvPr>
            <p:ph idx="1" type="body"/>
          </p:nvPr>
        </p:nvSpPr>
        <p:spPr>
          <a:xfrm>
            <a:off x="0" y="993795"/>
            <a:ext cx="8991600" cy="53641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None/>
            </a:pPr>
            <a:r>
              <a:t/>
            </a:r>
            <a:endParaRPr b="1"/>
          </a:p>
          <a:p>
            <a:pPr indent="-342900" lvl="0" marL="342900" rtl="0" algn="l">
              <a:spcBef>
                <a:spcPts val="640"/>
              </a:spcBef>
              <a:spcAft>
                <a:spcPts val="0"/>
              </a:spcAft>
              <a:buClr>
                <a:schemeClr val="dk1"/>
              </a:buClr>
              <a:buSzPts val="3200"/>
              <a:buChar char="•"/>
            </a:pPr>
            <a:r>
              <a:rPr b="1" lang="en-US"/>
              <a:t>Artificial Intelligence is the study of how to make computers do things at the moment, and do better [1].</a:t>
            </a:r>
            <a:endParaRPr/>
          </a:p>
          <a:p>
            <a:pPr indent="-342900" lvl="0" marL="342900" rtl="0" algn="l">
              <a:spcBef>
                <a:spcPts val="640"/>
              </a:spcBef>
              <a:spcAft>
                <a:spcPts val="0"/>
              </a:spcAft>
              <a:buClr>
                <a:schemeClr val="dk1"/>
              </a:buClr>
              <a:buSzPts val="3200"/>
              <a:buChar char="•"/>
            </a:pPr>
            <a:r>
              <a:rPr b="1" lang="en-US"/>
              <a:t>AI important elements:</a:t>
            </a:r>
            <a:endParaRPr/>
          </a:p>
          <a:p>
            <a:pPr indent="-514350" lvl="0" marL="514350" rtl="0" algn="l">
              <a:spcBef>
                <a:spcPts val="640"/>
              </a:spcBef>
              <a:spcAft>
                <a:spcPts val="0"/>
              </a:spcAft>
              <a:buClr>
                <a:schemeClr val="dk1"/>
              </a:buClr>
              <a:buSzPts val="3200"/>
              <a:buFont typeface="Calibri"/>
              <a:buAutoNum type="arabicPeriod"/>
            </a:pPr>
            <a:r>
              <a:rPr lang="en-US"/>
              <a:t>Systems that </a:t>
            </a:r>
            <a:r>
              <a:rPr lang="en-US">
                <a:solidFill>
                  <a:srgbClr val="FF0000"/>
                </a:solidFill>
              </a:rPr>
              <a:t>think like humans </a:t>
            </a:r>
            <a:endParaRPr/>
          </a:p>
          <a:p>
            <a:pPr indent="-514350" lvl="0" marL="514350" rtl="0" algn="l">
              <a:spcBef>
                <a:spcPts val="640"/>
              </a:spcBef>
              <a:spcAft>
                <a:spcPts val="0"/>
              </a:spcAft>
              <a:buClr>
                <a:schemeClr val="dk1"/>
              </a:buClr>
              <a:buSzPts val="3200"/>
              <a:buFont typeface="Calibri"/>
              <a:buAutoNum type="arabicPeriod"/>
            </a:pPr>
            <a:r>
              <a:rPr lang="en-US"/>
              <a:t>Systems that </a:t>
            </a:r>
            <a:r>
              <a:rPr lang="en-US">
                <a:solidFill>
                  <a:srgbClr val="FF0000"/>
                </a:solidFill>
              </a:rPr>
              <a:t>act like humans </a:t>
            </a:r>
            <a:endParaRPr/>
          </a:p>
          <a:p>
            <a:pPr indent="-514350" lvl="0" marL="514350" rtl="0" algn="l">
              <a:spcBef>
                <a:spcPts val="640"/>
              </a:spcBef>
              <a:spcAft>
                <a:spcPts val="0"/>
              </a:spcAft>
              <a:buClr>
                <a:schemeClr val="dk1"/>
              </a:buClr>
              <a:buSzPts val="3200"/>
              <a:buFont typeface="Calibri"/>
              <a:buAutoNum type="arabicPeriod"/>
            </a:pPr>
            <a:r>
              <a:rPr lang="en-US"/>
              <a:t>Systems that </a:t>
            </a:r>
            <a:r>
              <a:rPr lang="en-US">
                <a:solidFill>
                  <a:srgbClr val="FF0000"/>
                </a:solidFill>
              </a:rPr>
              <a:t>think rationally </a:t>
            </a:r>
            <a:endParaRPr/>
          </a:p>
          <a:p>
            <a:pPr indent="-514350" lvl="0" marL="514350" rtl="0" algn="l">
              <a:spcBef>
                <a:spcPts val="640"/>
              </a:spcBef>
              <a:spcAft>
                <a:spcPts val="0"/>
              </a:spcAft>
              <a:buClr>
                <a:schemeClr val="dk1"/>
              </a:buClr>
              <a:buSzPts val="3200"/>
              <a:buFont typeface="Calibri"/>
              <a:buAutoNum type="arabicPeriod"/>
            </a:pPr>
            <a:r>
              <a:rPr lang="en-US"/>
              <a:t>Systems that </a:t>
            </a:r>
            <a:r>
              <a:rPr lang="en-US">
                <a:solidFill>
                  <a:srgbClr val="FF0000"/>
                </a:solidFill>
              </a:rPr>
              <a:t>act rationally </a:t>
            </a:r>
            <a:endParaRPr/>
          </a:p>
          <a:p>
            <a:pPr indent="-311150" lvl="0" marL="514350" rtl="0" algn="l">
              <a:spcBef>
                <a:spcPts val="640"/>
              </a:spcBef>
              <a:spcAft>
                <a:spcPts val="0"/>
              </a:spcAft>
              <a:buClr>
                <a:schemeClr val="dk1"/>
              </a:buClr>
              <a:buSzPts val="3200"/>
              <a:buFont typeface="Calibri"/>
              <a:buNone/>
            </a:pPr>
            <a:r>
              <a:t/>
            </a:r>
            <a:endParaRPr b="1"/>
          </a:p>
        </p:txBody>
      </p:sp>
      <p:sp>
        <p:nvSpPr>
          <p:cNvPr id="104" name="Google Shape;104;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bc116d102d_0_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a:t>Artificial Intelligence is composed of two words Artificial and Intelligence, where Artificial defines "man-made," and intelligence defines "thinking power", hence AI means "a man-made thinking power." </a:t>
            </a:r>
            <a:endParaRPr/>
          </a:p>
        </p:txBody>
      </p:sp>
      <p:sp>
        <p:nvSpPr>
          <p:cNvPr id="111" name="Google Shape;111;g3bc116d102d_0_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Brief history of AI</a:t>
            </a:r>
            <a:endParaRPr/>
          </a:p>
        </p:txBody>
      </p:sp>
      <p:graphicFrame>
        <p:nvGraphicFramePr>
          <p:cNvPr id="117" name="Google Shape;117;p5"/>
          <p:cNvGraphicFramePr/>
          <p:nvPr/>
        </p:nvGraphicFramePr>
        <p:xfrm>
          <a:off x="395536" y="1916832"/>
          <a:ext cx="3000000" cy="3000000"/>
        </p:xfrm>
        <a:graphic>
          <a:graphicData uri="http://schemas.openxmlformats.org/drawingml/2006/table">
            <a:tbl>
              <a:tblPr>
                <a:noFill/>
                <a:tableStyleId>{75B08381-D11E-400C-BB2F-2556F55AF550}</a:tableStyleId>
              </a:tblPr>
              <a:tblGrid>
                <a:gridCol w="4114800"/>
                <a:gridCol w="4114800"/>
              </a:tblGrid>
              <a:tr h="228600">
                <a:tc>
                  <a:txBody>
                    <a:bodyPr/>
                    <a:lstStyle/>
                    <a:p>
                      <a:pPr indent="0" lvl="0" marL="0" marR="0" rtl="0" algn="l">
                        <a:spcBef>
                          <a:spcPts val="0"/>
                        </a:spcBef>
                        <a:spcAft>
                          <a:spcPts val="0"/>
                        </a:spcAft>
                        <a:buClr>
                          <a:schemeClr val="dk1"/>
                        </a:buClr>
                        <a:buSzPts val="1800"/>
                        <a:buFont typeface="Calibri"/>
                        <a:buNone/>
                      </a:pPr>
                      <a:r>
                        <a:rPr lang="en-US" sz="1800" u="none" cap="none" strike="noStrike"/>
                        <a:t>Year</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Milestone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t>1950</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Alan Turing — “Can machines think?”</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t>1956</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Term </a:t>
                      </a:r>
                      <a:r>
                        <a:rPr i="1" lang="en-US" sz="1800" u="none" cap="none" strike="noStrike"/>
                        <a:t>Artificial Intelligence</a:t>
                      </a:r>
                      <a:r>
                        <a:rPr lang="en-US" sz="1800" u="none" cap="none" strike="noStrike"/>
                        <a:t> coined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lang="en-US" sz="1800" u="none" cap="none" strike="noStrike"/>
                        <a:t>1970s–90s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Expert systems, rule-based AI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t>2010+</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lang="en-US" sz="1800" u="none" cap="none" strike="noStrike"/>
                        <a:t>Data + ML + Deep Learning boom</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18" name="Google Shape;118;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6"/>
          <p:cNvSpPr txBox="1"/>
          <p:nvPr>
            <p:ph idx="1" type="body"/>
          </p:nvPr>
        </p:nvSpPr>
        <p:spPr>
          <a:xfrm>
            <a:off x="0" y="993795"/>
            <a:ext cx="8991600" cy="53641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None/>
            </a:pPr>
            <a:r>
              <a:t/>
            </a:r>
            <a:endParaRPr b="1"/>
          </a:p>
          <a:p>
            <a:pPr indent="-342900" lvl="0" marL="342900" rtl="0" algn="l">
              <a:spcBef>
                <a:spcPts val="544"/>
              </a:spcBef>
              <a:spcAft>
                <a:spcPts val="0"/>
              </a:spcAft>
              <a:buClr>
                <a:schemeClr val="dk1"/>
              </a:buClr>
              <a:buSzPct val="100000"/>
              <a:buChar char="•"/>
            </a:pPr>
            <a:r>
              <a:rPr lang="en-US"/>
              <a:t>Applications of AI</a:t>
            </a:r>
            <a:endParaRPr/>
          </a:p>
          <a:p>
            <a:pPr indent="-514350" lvl="0" marL="514350" rtl="0" algn="l">
              <a:spcBef>
                <a:spcPts val="544"/>
              </a:spcBef>
              <a:spcAft>
                <a:spcPts val="0"/>
              </a:spcAft>
              <a:buClr>
                <a:schemeClr val="dk1"/>
              </a:buClr>
              <a:buSzPct val="100000"/>
              <a:buFont typeface="Calibri"/>
              <a:buAutoNum type="arabicParenR"/>
            </a:pPr>
            <a:r>
              <a:rPr lang="en-US"/>
              <a:t>Optical character recognition</a:t>
            </a:r>
            <a:endParaRPr/>
          </a:p>
          <a:p>
            <a:pPr indent="-514350" lvl="0" marL="514350" rtl="0" algn="l">
              <a:spcBef>
                <a:spcPts val="544"/>
              </a:spcBef>
              <a:spcAft>
                <a:spcPts val="0"/>
              </a:spcAft>
              <a:buClr>
                <a:schemeClr val="dk1"/>
              </a:buClr>
              <a:buSzPct val="100000"/>
              <a:buFont typeface="Calibri"/>
              <a:buAutoNum type="arabicParenR"/>
            </a:pPr>
            <a:r>
              <a:rPr lang="en-US"/>
              <a:t>Handwriting recognition</a:t>
            </a:r>
            <a:endParaRPr/>
          </a:p>
          <a:p>
            <a:pPr indent="-514350" lvl="0" marL="514350" rtl="0" algn="l">
              <a:spcBef>
                <a:spcPts val="544"/>
              </a:spcBef>
              <a:spcAft>
                <a:spcPts val="0"/>
              </a:spcAft>
              <a:buClr>
                <a:schemeClr val="dk1"/>
              </a:buClr>
              <a:buSzPct val="100000"/>
              <a:buFont typeface="Calibri"/>
              <a:buAutoNum type="arabicParenR"/>
            </a:pPr>
            <a:r>
              <a:rPr lang="en-US"/>
              <a:t>Speech recognition</a:t>
            </a:r>
            <a:endParaRPr/>
          </a:p>
          <a:p>
            <a:pPr indent="-514350" lvl="0" marL="514350" rtl="0" algn="l">
              <a:spcBef>
                <a:spcPts val="544"/>
              </a:spcBef>
              <a:spcAft>
                <a:spcPts val="0"/>
              </a:spcAft>
              <a:buClr>
                <a:schemeClr val="dk1"/>
              </a:buClr>
              <a:buSzPct val="100000"/>
              <a:buFont typeface="Calibri"/>
              <a:buAutoNum type="arabicParenR"/>
            </a:pPr>
            <a:r>
              <a:rPr lang="en-US"/>
              <a:t>Face recognition</a:t>
            </a:r>
            <a:endParaRPr/>
          </a:p>
          <a:p>
            <a:pPr indent="-514350" lvl="0" marL="514350" rtl="0" algn="l">
              <a:spcBef>
                <a:spcPts val="544"/>
              </a:spcBef>
              <a:spcAft>
                <a:spcPts val="0"/>
              </a:spcAft>
              <a:buClr>
                <a:schemeClr val="dk1"/>
              </a:buClr>
              <a:buSzPct val="100000"/>
              <a:buFont typeface="Calibri"/>
              <a:buAutoNum type="arabicParenR"/>
            </a:pPr>
            <a:r>
              <a:rPr lang="en-US"/>
              <a:t>Gaming</a:t>
            </a:r>
            <a:endParaRPr/>
          </a:p>
          <a:p>
            <a:pPr indent="-514350" lvl="0" marL="514350" rtl="0" algn="l">
              <a:spcBef>
                <a:spcPts val="544"/>
              </a:spcBef>
              <a:spcAft>
                <a:spcPts val="0"/>
              </a:spcAft>
              <a:buClr>
                <a:schemeClr val="dk1"/>
              </a:buClr>
              <a:buSzPct val="100000"/>
              <a:buFont typeface="Calibri"/>
              <a:buAutoNum type="arabicParenR"/>
            </a:pPr>
            <a:r>
              <a:rPr lang="en-US"/>
              <a:t>Artificial creativity</a:t>
            </a:r>
            <a:endParaRPr/>
          </a:p>
          <a:p>
            <a:pPr indent="-514350" lvl="0" marL="514350" rtl="0" algn="l">
              <a:spcBef>
                <a:spcPts val="544"/>
              </a:spcBef>
              <a:spcAft>
                <a:spcPts val="0"/>
              </a:spcAft>
              <a:buClr>
                <a:schemeClr val="dk1"/>
              </a:buClr>
              <a:buSzPct val="100000"/>
              <a:buFont typeface="Calibri"/>
              <a:buAutoNum type="arabicParenR"/>
            </a:pPr>
            <a:r>
              <a:rPr lang="en-US"/>
              <a:t>Computer vision, Virtual reality, and Image processing</a:t>
            </a:r>
            <a:endParaRPr/>
          </a:p>
          <a:p>
            <a:pPr indent="-514350" lvl="0" marL="514350" rtl="0" algn="l">
              <a:spcBef>
                <a:spcPts val="544"/>
              </a:spcBef>
              <a:spcAft>
                <a:spcPts val="0"/>
              </a:spcAft>
              <a:buClr>
                <a:schemeClr val="dk1"/>
              </a:buClr>
              <a:buSzPct val="100000"/>
              <a:buFont typeface="Calibri"/>
              <a:buAutoNum type="arabicParenR"/>
            </a:pPr>
            <a:r>
              <a:rPr lang="en-US"/>
              <a:t>Photo and Video manipulation</a:t>
            </a:r>
            <a:endParaRPr/>
          </a:p>
          <a:p>
            <a:pPr indent="-514350" lvl="0" marL="514350" rtl="0" algn="l">
              <a:spcBef>
                <a:spcPts val="544"/>
              </a:spcBef>
              <a:spcAft>
                <a:spcPts val="0"/>
              </a:spcAft>
              <a:buClr>
                <a:schemeClr val="dk1"/>
              </a:buClr>
              <a:buSzPct val="100000"/>
              <a:buFont typeface="Calibri"/>
              <a:buAutoNum type="arabicParenR"/>
            </a:pPr>
            <a:r>
              <a:rPr lang="en-US"/>
              <a:t>Diagnosis (artificial intelligence)</a:t>
            </a:r>
            <a:endParaRPr/>
          </a:p>
          <a:p>
            <a:pPr indent="-170180" lvl="0" marL="342900" rtl="0" algn="l">
              <a:spcBef>
                <a:spcPts val="544"/>
              </a:spcBef>
              <a:spcAft>
                <a:spcPts val="0"/>
              </a:spcAft>
              <a:buClr>
                <a:schemeClr val="dk1"/>
              </a:buClr>
              <a:buSzPct val="100000"/>
              <a:buNone/>
            </a:pPr>
            <a:r>
              <a:t/>
            </a:r>
            <a:endParaRPr>
              <a:solidFill>
                <a:srgbClr val="FF0000"/>
              </a:solidFill>
            </a:endParaRPr>
          </a:p>
          <a:p>
            <a:pPr indent="-341630" lvl="0" marL="514350" rtl="0" algn="l">
              <a:spcBef>
                <a:spcPts val="544"/>
              </a:spcBef>
              <a:spcAft>
                <a:spcPts val="0"/>
              </a:spcAft>
              <a:buClr>
                <a:schemeClr val="dk1"/>
              </a:buClr>
              <a:buSzPct val="100000"/>
              <a:buFont typeface="Calibri"/>
              <a:buNone/>
            </a:pPr>
            <a:r>
              <a:t/>
            </a:r>
            <a:endParaRPr b="1"/>
          </a:p>
        </p:txBody>
      </p:sp>
      <p:sp>
        <p:nvSpPr>
          <p:cNvPr id="124" name="Google Shape;124;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bc116d102d_0_15"/>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Advantages of AI</a:t>
            </a:r>
            <a:endParaRPr/>
          </a:p>
        </p:txBody>
      </p:sp>
      <p:sp>
        <p:nvSpPr>
          <p:cNvPr id="131" name="Google Shape;131;g3bc116d102d_0_15"/>
          <p:cNvSpPr txBox="1"/>
          <p:nvPr>
            <p:ph idx="1" type="body"/>
          </p:nvPr>
        </p:nvSpPr>
        <p:spPr>
          <a:xfrm>
            <a:off x="188175" y="1600200"/>
            <a:ext cx="8718900" cy="5121300"/>
          </a:xfrm>
          <a:prstGeom prst="rect">
            <a:avLst/>
          </a:prstGeom>
        </p:spPr>
        <p:txBody>
          <a:bodyPr anchorCtr="0" anchor="t" bIns="45700" lIns="91425" spcFirstLastPara="1" rIns="91425" wrap="square" tIns="45700">
            <a:normAutofit fontScale="92500" lnSpcReduction="20000"/>
          </a:bodyPr>
          <a:lstStyle/>
          <a:p>
            <a:pPr indent="-334327" lvl="0" marL="457200" rtl="0" algn="l">
              <a:spcBef>
                <a:spcPts val="360"/>
              </a:spcBef>
              <a:spcAft>
                <a:spcPts val="0"/>
              </a:spcAft>
              <a:buSzPct val="56250"/>
              <a:buChar char="•"/>
            </a:pPr>
            <a:r>
              <a:rPr lang="en-US"/>
              <a:t>High Accuracy with less errors: AI machines or systems are prone to less errors and high accuracy as it takes decisions as per pre-experience or information. </a:t>
            </a:r>
            <a:endParaRPr/>
          </a:p>
          <a:p>
            <a:pPr indent="-334327" lvl="0" marL="457200" rtl="0" algn="l">
              <a:spcBef>
                <a:spcPts val="0"/>
              </a:spcBef>
              <a:spcAft>
                <a:spcPts val="0"/>
              </a:spcAft>
              <a:buSzPct val="56250"/>
              <a:buChar char="•"/>
            </a:pPr>
            <a:r>
              <a:rPr lang="en-US"/>
              <a:t>High-Speed: AI systems can be of very high-speed and fast-decision making, because of that AI systems can beat a chess champion in the Chess game. </a:t>
            </a:r>
            <a:endParaRPr/>
          </a:p>
          <a:p>
            <a:pPr indent="-334327" lvl="0" marL="457200" rtl="0" algn="l">
              <a:spcBef>
                <a:spcPts val="0"/>
              </a:spcBef>
              <a:spcAft>
                <a:spcPts val="0"/>
              </a:spcAft>
              <a:buSzPct val="56250"/>
              <a:buChar char="•"/>
            </a:pPr>
            <a:r>
              <a:rPr lang="en-US"/>
              <a:t>High reliability: AI machines are highly reliable and can perform the same action multiple times with high accuracy. </a:t>
            </a:r>
            <a:endParaRPr/>
          </a:p>
          <a:p>
            <a:pPr indent="-334327" lvl="0" marL="457200" rtl="0" algn="l">
              <a:spcBef>
                <a:spcPts val="0"/>
              </a:spcBef>
              <a:spcAft>
                <a:spcPts val="0"/>
              </a:spcAft>
              <a:buSzPct val="56250"/>
              <a:buChar char="•"/>
            </a:pPr>
            <a:r>
              <a:rPr lang="en-US"/>
              <a:t>Useful for risky areas: AI machines can be helpful in situations such as defusing a bomb, exploring the ocean floor, where to employ a human can be risky.</a:t>
            </a:r>
            <a:endParaRPr/>
          </a:p>
        </p:txBody>
      </p:sp>
      <p:sp>
        <p:nvSpPr>
          <p:cNvPr id="132" name="Google Shape;132;g3bc116d102d_0_1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bc116d102d_0_22"/>
          <p:cNvSpPr txBox="1"/>
          <p:nvPr>
            <p:ph idx="1" type="body"/>
          </p:nvPr>
        </p:nvSpPr>
        <p:spPr>
          <a:xfrm>
            <a:off x="457200" y="522725"/>
            <a:ext cx="8229600" cy="59589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a:t>Digital Assistant: AI can be very useful to provide digital assistant to the users such as AI technology is currently used by various Ecommerce websites to show the products as per customer requirement. </a:t>
            </a:r>
            <a:endParaRPr/>
          </a:p>
          <a:p>
            <a:pPr indent="-342900" lvl="0" marL="457200" rtl="0" algn="l">
              <a:spcBef>
                <a:spcPts val="0"/>
              </a:spcBef>
              <a:spcAft>
                <a:spcPts val="0"/>
              </a:spcAft>
              <a:buSzPts val="1800"/>
              <a:buChar char="•"/>
            </a:pPr>
            <a:r>
              <a:rPr lang="en-US"/>
              <a:t>Useful as a public utility: AI can be very useful for public utilities such as a self-driving car which can make our journey safer and hassle-free, facial recognition for security purpose, Natural language processing to communicate with the human in human-language, etc. </a:t>
            </a:r>
            <a:endParaRPr/>
          </a:p>
        </p:txBody>
      </p:sp>
      <p:sp>
        <p:nvSpPr>
          <p:cNvPr id="139" name="Google Shape;139;g3bc116d102d_0_2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bc116d102d_0_3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Disadvantages of AI</a:t>
            </a:r>
            <a:endParaRPr/>
          </a:p>
        </p:txBody>
      </p:sp>
      <p:sp>
        <p:nvSpPr>
          <p:cNvPr id="146" name="Google Shape;146;g3bc116d102d_0_31"/>
          <p:cNvSpPr txBox="1"/>
          <p:nvPr>
            <p:ph idx="1" type="body"/>
          </p:nvPr>
        </p:nvSpPr>
        <p:spPr>
          <a:xfrm>
            <a:off x="457200" y="1600200"/>
            <a:ext cx="8229600" cy="49650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a:t>High Cost: The hardware and software requirement of AI is very costly as it requires lots of maintenance to meet current world requirements. </a:t>
            </a:r>
            <a:endParaRPr/>
          </a:p>
          <a:p>
            <a:pPr indent="-342900" lvl="0" marL="457200" rtl="0" algn="l">
              <a:spcBef>
                <a:spcPts val="0"/>
              </a:spcBef>
              <a:spcAft>
                <a:spcPts val="0"/>
              </a:spcAft>
              <a:buSzPts val="1800"/>
              <a:buChar char="•"/>
            </a:pPr>
            <a:r>
              <a:rPr lang="en-US"/>
              <a:t>Can't think out of the box: Even we are making smarter machines with AI, but still they cannot work out of the box, as the robot will only do that work for which they are trained, or programmed.</a:t>
            </a:r>
            <a:endParaRPr/>
          </a:p>
        </p:txBody>
      </p:sp>
      <p:sp>
        <p:nvSpPr>
          <p:cNvPr id="147" name="Google Shape;147;g3bc116d102d_0_3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bc116d102d_0_38"/>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a:t>Increase dependency on machines: With the increment of technology, people are getting more dependent on devices and hence they are losing their mental capabilities.</a:t>
            </a:r>
            <a:endParaRPr/>
          </a:p>
        </p:txBody>
      </p:sp>
      <p:sp>
        <p:nvSpPr>
          <p:cNvPr id="154" name="Google Shape;154;g3bc116d102d_0_3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bc116d102d_0_0"/>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Foundations of AI and sub areas of AI: </a:t>
            </a:r>
            <a:endParaRPr/>
          </a:p>
        </p:txBody>
      </p:sp>
      <p:sp>
        <p:nvSpPr>
          <p:cNvPr id="161" name="Google Shape;161;g3bc116d102d_0_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sz="4400"/>
              <a:t>AI into five distinct research areas  </a:t>
            </a:r>
            <a:endParaRPr sz="4400"/>
          </a:p>
          <a:p>
            <a:pPr indent="-508000" lvl="0" marL="457200" rtl="0" algn="l">
              <a:spcBef>
                <a:spcPts val="360"/>
              </a:spcBef>
              <a:spcAft>
                <a:spcPts val="0"/>
              </a:spcAft>
              <a:buSzPts val="4400"/>
              <a:buChar char="•"/>
            </a:pPr>
            <a:r>
              <a:rPr lang="en-US" sz="4400"/>
              <a:t>Machine Learning  </a:t>
            </a:r>
            <a:endParaRPr sz="4400"/>
          </a:p>
          <a:p>
            <a:pPr indent="-508000" lvl="0" marL="457200" rtl="0" algn="l">
              <a:spcBef>
                <a:spcPts val="0"/>
              </a:spcBef>
              <a:spcAft>
                <a:spcPts val="0"/>
              </a:spcAft>
              <a:buSzPts val="4400"/>
              <a:buChar char="•"/>
            </a:pPr>
            <a:r>
              <a:rPr lang="en-US" sz="4400"/>
              <a:t>Expert Systems  </a:t>
            </a:r>
            <a:endParaRPr sz="4400"/>
          </a:p>
          <a:p>
            <a:pPr indent="-508000" lvl="0" marL="457200" rtl="0" algn="l">
              <a:spcBef>
                <a:spcPts val="0"/>
              </a:spcBef>
              <a:spcAft>
                <a:spcPts val="0"/>
              </a:spcAft>
              <a:buSzPts val="4400"/>
              <a:buChar char="•"/>
            </a:pPr>
            <a:r>
              <a:rPr lang="en-US" sz="4400"/>
              <a:t>Computer Vision  </a:t>
            </a:r>
            <a:endParaRPr sz="4400"/>
          </a:p>
          <a:p>
            <a:pPr indent="-508000" lvl="0" marL="457200" rtl="0" algn="l">
              <a:spcBef>
                <a:spcPts val="0"/>
              </a:spcBef>
              <a:spcAft>
                <a:spcPts val="0"/>
              </a:spcAft>
              <a:buSzPts val="4400"/>
              <a:buChar char="•"/>
            </a:pPr>
            <a:r>
              <a:rPr lang="en-US" sz="4400"/>
              <a:t>Natural Language Processing  Robotics</a:t>
            </a:r>
            <a:endParaRPr/>
          </a:p>
        </p:txBody>
      </p:sp>
      <p:sp>
        <p:nvSpPr>
          <p:cNvPr id="162" name="Google Shape;162;g3bc116d102d_0_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be792f7f1b_0_5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69" name="Google Shape;169;g3be792f7f1b_0_59" title="IMG_20260208_222725.jpg"/>
          <p:cNvPicPr preferRelativeResize="0"/>
          <p:nvPr/>
        </p:nvPicPr>
        <p:blipFill rotWithShape="1">
          <a:blip r:embed="rId3">
            <a:alphaModFix/>
          </a:blip>
          <a:srcRect b="0" l="-9570" r="9570" t="0"/>
          <a:stretch/>
        </p:blipFill>
        <p:spPr>
          <a:xfrm>
            <a:off x="1923375" y="152400"/>
            <a:ext cx="5297243" cy="655320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7"/>
          <p:cNvSpPr txBox="1"/>
          <p:nvPr>
            <p:ph idx="1" type="body"/>
          </p:nvPr>
        </p:nvSpPr>
        <p:spPr>
          <a:xfrm>
            <a:off x="385762" y="232118"/>
            <a:ext cx="8229600" cy="748923"/>
          </a:xfrm>
          <a:prstGeom prst="rect">
            <a:avLst/>
          </a:prstGeom>
          <a:noFill/>
          <a:ln>
            <a:noFill/>
          </a:ln>
        </p:spPr>
        <p:txBody>
          <a:bodyPr anchorCtr="0" anchor="t" bIns="45700" lIns="91425" spcFirstLastPara="1" rIns="91425" wrap="square" tIns="45700">
            <a:normAutofit/>
          </a:bodyPr>
          <a:lstStyle/>
          <a:p>
            <a:pPr indent="-342900" lvl="0" marL="342900" rtl="0" algn="ctr">
              <a:spcBef>
                <a:spcPts val="0"/>
              </a:spcBef>
              <a:spcAft>
                <a:spcPts val="0"/>
              </a:spcAft>
              <a:buClr>
                <a:schemeClr val="dk1"/>
              </a:buClr>
              <a:buSzPts val="3200"/>
              <a:buNone/>
            </a:pPr>
            <a:r>
              <a:rPr lang="en-US"/>
              <a:t>Intelligent Agent</a:t>
            </a:r>
            <a:endParaRPr/>
          </a:p>
        </p:txBody>
      </p:sp>
      <p:sp>
        <p:nvSpPr>
          <p:cNvPr id="175" name="Google Shape;175;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6" name="Google Shape;176;p7"/>
          <p:cNvSpPr/>
          <p:nvPr/>
        </p:nvSpPr>
        <p:spPr>
          <a:xfrm>
            <a:off x="428596" y="1000108"/>
            <a:ext cx="821537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An </a:t>
            </a:r>
            <a:r>
              <a:rPr b="1" i="0" lang="en-US" sz="1800" u="none" cap="none" strike="noStrike">
                <a:solidFill>
                  <a:schemeClr val="dk1"/>
                </a:solidFill>
                <a:latin typeface="Calibri"/>
                <a:ea typeface="Calibri"/>
                <a:cs typeface="Calibri"/>
                <a:sym typeface="Calibri"/>
              </a:rPr>
              <a:t>agent is anything that can be viewed as perceiving its environment through sensors and acting upon that environment through actuators shown in Figure[1] </a:t>
            </a:r>
            <a:endParaRPr sz="1800">
              <a:solidFill>
                <a:schemeClr val="dk1"/>
              </a:solidFill>
              <a:latin typeface="Calibri"/>
              <a:ea typeface="Calibri"/>
              <a:cs typeface="Calibri"/>
              <a:sym typeface="Calibri"/>
            </a:endParaRPr>
          </a:p>
        </p:txBody>
      </p:sp>
      <p:sp>
        <p:nvSpPr>
          <p:cNvPr id="177" name="Google Shape;177;p7"/>
          <p:cNvSpPr/>
          <p:nvPr/>
        </p:nvSpPr>
        <p:spPr>
          <a:xfrm>
            <a:off x="1285852" y="2714620"/>
            <a:ext cx="1571636" cy="1500198"/>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Environment</a:t>
            </a:r>
            <a:endParaRPr sz="1800">
              <a:solidFill>
                <a:schemeClr val="lt1"/>
              </a:solidFill>
              <a:latin typeface="Calibri"/>
              <a:ea typeface="Calibri"/>
              <a:cs typeface="Calibri"/>
              <a:sym typeface="Calibri"/>
            </a:endParaRPr>
          </a:p>
        </p:txBody>
      </p:sp>
      <p:sp>
        <p:nvSpPr>
          <p:cNvPr id="178" name="Google Shape;178;p7"/>
          <p:cNvSpPr/>
          <p:nvPr/>
        </p:nvSpPr>
        <p:spPr>
          <a:xfrm>
            <a:off x="4572000" y="2786058"/>
            <a:ext cx="1857388" cy="1571636"/>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Agent</a:t>
            </a:r>
            <a:endParaRPr sz="1800">
              <a:solidFill>
                <a:schemeClr val="lt1"/>
              </a:solidFill>
              <a:latin typeface="Calibri"/>
              <a:ea typeface="Calibri"/>
              <a:cs typeface="Calibri"/>
              <a:sym typeface="Calibri"/>
            </a:endParaRPr>
          </a:p>
        </p:txBody>
      </p:sp>
      <p:cxnSp>
        <p:nvCxnSpPr>
          <p:cNvPr id="179" name="Google Shape;179;p7"/>
          <p:cNvCxnSpPr/>
          <p:nvPr/>
        </p:nvCxnSpPr>
        <p:spPr>
          <a:xfrm rot="5400000">
            <a:off x="4572000" y="2357430"/>
            <a:ext cx="714380" cy="1588"/>
          </a:xfrm>
          <a:prstGeom prst="straightConnector1">
            <a:avLst/>
          </a:prstGeom>
          <a:noFill/>
          <a:ln cap="flat" cmpd="sng" w="9525">
            <a:solidFill>
              <a:srgbClr val="4A7DBA"/>
            </a:solidFill>
            <a:prstDash val="solid"/>
            <a:round/>
            <a:headEnd len="sm" w="sm" type="none"/>
            <a:tailEnd len="med" w="med" type="stealth"/>
          </a:ln>
        </p:spPr>
      </p:cxnSp>
      <p:sp>
        <p:nvSpPr>
          <p:cNvPr id="180" name="Google Shape;180;p7"/>
          <p:cNvSpPr txBox="1"/>
          <p:nvPr/>
        </p:nvSpPr>
        <p:spPr>
          <a:xfrm>
            <a:off x="5072066" y="2285992"/>
            <a:ext cx="15001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Sensor input</a:t>
            </a:r>
            <a:endParaRPr sz="1800">
              <a:solidFill>
                <a:schemeClr val="dk1"/>
              </a:solidFill>
              <a:latin typeface="Calibri"/>
              <a:ea typeface="Calibri"/>
              <a:cs typeface="Calibri"/>
              <a:sym typeface="Calibri"/>
            </a:endParaRPr>
          </a:p>
        </p:txBody>
      </p:sp>
      <p:cxnSp>
        <p:nvCxnSpPr>
          <p:cNvPr id="181" name="Google Shape;181;p7"/>
          <p:cNvCxnSpPr/>
          <p:nvPr/>
        </p:nvCxnSpPr>
        <p:spPr>
          <a:xfrm>
            <a:off x="2857488" y="3000372"/>
            <a:ext cx="1643074" cy="1588"/>
          </a:xfrm>
          <a:prstGeom prst="straightConnector1">
            <a:avLst/>
          </a:prstGeom>
          <a:noFill/>
          <a:ln cap="flat" cmpd="sng" w="9525">
            <a:solidFill>
              <a:srgbClr val="4A7DBA"/>
            </a:solidFill>
            <a:prstDash val="solid"/>
            <a:round/>
            <a:headEnd len="sm" w="sm" type="none"/>
            <a:tailEnd len="med" w="med" type="stealth"/>
          </a:ln>
        </p:spPr>
      </p:cxnSp>
      <p:sp>
        <p:nvSpPr>
          <p:cNvPr id="182" name="Google Shape;182;p7"/>
          <p:cNvSpPr txBox="1"/>
          <p:nvPr/>
        </p:nvSpPr>
        <p:spPr>
          <a:xfrm>
            <a:off x="3286116" y="2643182"/>
            <a:ext cx="10001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percepts</a:t>
            </a:r>
            <a:endParaRPr sz="1800">
              <a:solidFill>
                <a:schemeClr val="dk1"/>
              </a:solidFill>
              <a:latin typeface="Calibri"/>
              <a:ea typeface="Calibri"/>
              <a:cs typeface="Calibri"/>
              <a:sym typeface="Calibri"/>
            </a:endParaRPr>
          </a:p>
        </p:txBody>
      </p:sp>
      <p:cxnSp>
        <p:nvCxnSpPr>
          <p:cNvPr id="183" name="Google Shape;183;p7"/>
          <p:cNvCxnSpPr/>
          <p:nvPr/>
        </p:nvCxnSpPr>
        <p:spPr>
          <a:xfrm rot="10800000">
            <a:off x="2857488" y="3786190"/>
            <a:ext cx="1643074" cy="1588"/>
          </a:xfrm>
          <a:prstGeom prst="straightConnector1">
            <a:avLst/>
          </a:prstGeom>
          <a:noFill/>
          <a:ln cap="flat" cmpd="sng" w="9525">
            <a:solidFill>
              <a:srgbClr val="4A7DBA"/>
            </a:solidFill>
            <a:prstDash val="solid"/>
            <a:round/>
            <a:headEnd len="sm" w="sm" type="none"/>
            <a:tailEnd len="med" w="med" type="stealth"/>
          </a:ln>
        </p:spPr>
      </p:cxnSp>
      <p:sp>
        <p:nvSpPr>
          <p:cNvPr id="184" name="Google Shape;184;p7"/>
          <p:cNvSpPr txBox="1"/>
          <p:nvPr/>
        </p:nvSpPr>
        <p:spPr>
          <a:xfrm>
            <a:off x="3357554" y="3786190"/>
            <a:ext cx="85725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action</a:t>
            </a:r>
            <a:endParaRPr sz="1800">
              <a:solidFill>
                <a:schemeClr val="dk1"/>
              </a:solidFill>
              <a:latin typeface="Calibri"/>
              <a:ea typeface="Calibri"/>
              <a:cs typeface="Calibri"/>
              <a:sym typeface="Calibri"/>
            </a:endParaRPr>
          </a:p>
        </p:txBody>
      </p:sp>
      <p:sp>
        <p:nvSpPr>
          <p:cNvPr id="185" name="Google Shape;185;p7"/>
          <p:cNvSpPr txBox="1"/>
          <p:nvPr/>
        </p:nvSpPr>
        <p:spPr>
          <a:xfrm>
            <a:off x="1714480" y="4714884"/>
            <a:ext cx="4714908"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Figure: Agent interaction with environment</a:t>
            </a:r>
            <a:endParaRPr sz="14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Types of Intelligent Agents</a:t>
            </a:r>
            <a:endParaRPr/>
          </a:p>
        </p:txBody>
      </p:sp>
      <p:sp>
        <p:nvSpPr>
          <p:cNvPr id="191" name="Google Shape;191;p8"/>
          <p:cNvSpPr txBox="1"/>
          <p:nvPr>
            <p:ph idx="1" type="body"/>
          </p:nvPr>
        </p:nvSpPr>
        <p:spPr>
          <a:xfrm>
            <a:off x="457200" y="1600200"/>
            <a:ext cx="8229600" cy="4853136"/>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3200"/>
              <a:buNone/>
            </a:pPr>
            <a:r>
              <a:rPr lang="en-US" u="sng"/>
              <a:t>Simple reflex, Model-based, Goal-based, Utility-based, Learning</a:t>
            </a:r>
            <a:endParaRPr/>
          </a:p>
          <a:p>
            <a:pPr indent="0" lvl="0" marL="0" rtl="0" algn="l">
              <a:spcBef>
                <a:spcPts val="640"/>
              </a:spcBef>
              <a:spcAft>
                <a:spcPts val="0"/>
              </a:spcAft>
              <a:buClr>
                <a:schemeClr val="dk1"/>
              </a:buClr>
              <a:buSzPts val="3200"/>
              <a:buNone/>
            </a:pPr>
            <a:r>
              <a:rPr lang="en-US"/>
              <a:t>Examples:</a:t>
            </a:r>
            <a:endParaRPr/>
          </a:p>
          <a:p>
            <a:pPr indent="0" lvl="0" marL="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Thermostat (Simple)</a:t>
            </a:r>
            <a:endParaRPr/>
          </a:p>
          <a:p>
            <a:pPr indent="-342900" lvl="0" marL="342900" rtl="0" algn="l">
              <a:spcBef>
                <a:spcPts val="640"/>
              </a:spcBef>
              <a:spcAft>
                <a:spcPts val="0"/>
              </a:spcAft>
              <a:buClr>
                <a:schemeClr val="dk1"/>
              </a:buClr>
              <a:buSzPts val="3200"/>
              <a:buChar char="•"/>
            </a:pPr>
            <a:r>
              <a:rPr lang="en-US"/>
              <a:t>Robot vacuum (Model-based)</a:t>
            </a:r>
            <a:endParaRPr/>
          </a:p>
          <a:p>
            <a:pPr indent="-342900" lvl="0" marL="342900" rtl="0" algn="l">
              <a:spcBef>
                <a:spcPts val="640"/>
              </a:spcBef>
              <a:spcAft>
                <a:spcPts val="0"/>
              </a:spcAft>
              <a:buClr>
                <a:schemeClr val="dk1"/>
              </a:buClr>
              <a:buSzPts val="3200"/>
              <a:buChar char="•"/>
            </a:pPr>
            <a:r>
              <a:rPr lang="en-US"/>
              <a:t>GPS Navigation (Goal-based)</a:t>
            </a:r>
            <a:endParaRPr/>
          </a:p>
          <a:p>
            <a:pPr indent="-342900" lvl="0" marL="342900" rtl="0" algn="l">
              <a:spcBef>
                <a:spcPts val="640"/>
              </a:spcBef>
              <a:spcAft>
                <a:spcPts val="0"/>
              </a:spcAft>
              <a:buClr>
                <a:schemeClr val="dk1"/>
              </a:buClr>
              <a:buSzPts val="3200"/>
              <a:buChar char="•"/>
            </a:pPr>
            <a:r>
              <a:rPr lang="en-US"/>
              <a:t>Recommender (Utility-based)</a:t>
            </a:r>
            <a:endParaRPr/>
          </a:p>
          <a:p>
            <a:pPr indent="-342900" lvl="0" marL="342900" rtl="0" algn="l">
              <a:spcBef>
                <a:spcPts val="640"/>
              </a:spcBef>
              <a:spcAft>
                <a:spcPts val="0"/>
              </a:spcAft>
              <a:buClr>
                <a:schemeClr val="dk1"/>
              </a:buClr>
              <a:buSzPts val="3200"/>
              <a:buChar char="•"/>
            </a:pPr>
            <a:r>
              <a:rPr lang="en-US"/>
              <a:t>Spam filter (Learning)</a:t>
            </a:r>
            <a:endParaRPr/>
          </a:p>
          <a:p>
            <a:pPr indent="0" lvl="0" marL="0" rtl="0" algn="l">
              <a:spcBef>
                <a:spcPts val="640"/>
              </a:spcBef>
              <a:spcAft>
                <a:spcPts val="0"/>
              </a:spcAft>
              <a:buClr>
                <a:schemeClr val="dk1"/>
              </a:buClr>
              <a:buSzPts val="3200"/>
              <a:buNone/>
            </a:pPr>
            <a:r>
              <a:t/>
            </a:r>
            <a:endParaRPr/>
          </a:p>
        </p:txBody>
      </p:sp>
      <p:sp>
        <p:nvSpPr>
          <p:cNvPr id="192" name="Google Shape;192;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9"/>
          <p:cNvSpPr txBox="1"/>
          <p:nvPr>
            <p:ph idx="1" type="body"/>
          </p:nvPr>
        </p:nvSpPr>
        <p:spPr>
          <a:xfrm>
            <a:off x="395536" y="1700808"/>
            <a:ext cx="8262660" cy="4639669"/>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4000"/>
              <a:buChar char="•"/>
            </a:pPr>
            <a:r>
              <a:rPr lang="en-US" sz="4000"/>
              <a:t>Agent action is decided upon any input perceived by any agent.</a:t>
            </a:r>
            <a:endParaRPr/>
          </a:p>
          <a:p>
            <a:pPr indent="-342900" lvl="0" marL="342900" rtl="0" algn="l">
              <a:spcBef>
                <a:spcPts val="800"/>
              </a:spcBef>
              <a:spcAft>
                <a:spcPts val="0"/>
              </a:spcAft>
              <a:buClr>
                <a:schemeClr val="dk1"/>
              </a:buClr>
              <a:buSzPts val="4000"/>
              <a:buChar char="•"/>
            </a:pPr>
            <a:r>
              <a:rPr lang="en-US" sz="4000"/>
              <a:t>Agent program is the action taken against that percept sequence</a:t>
            </a:r>
            <a:endParaRPr/>
          </a:p>
          <a:p>
            <a:pPr indent="-488950" lvl="0" marL="742950" rtl="0" algn="l">
              <a:spcBef>
                <a:spcPts val="800"/>
              </a:spcBef>
              <a:spcAft>
                <a:spcPts val="0"/>
              </a:spcAft>
              <a:buClr>
                <a:schemeClr val="dk1"/>
              </a:buClr>
              <a:buSzPts val="4000"/>
              <a:buFont typeface="Calibri"/>
              <a:buNone/>
            </a:pPr>
            <a:r>
              <a:t/>
            </a:r>
            <a:endParaRPr sz="4000"/>
          </a:p>
        </p:txBody>
      </p:sp>
      <p:sp>
        <p:nvSpPr>
          <p:cNvPr id="198" name="Google Shape;198;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9" name="Google Shape;199;p9"/>
          <p:cNvSpPr/>
          <p:nvPr/>
        </p:nvSpPr>
        <p:spPr>
          <a:xfrm>
            <a:off x="1142976" y="517523"/>
            <a:ext cx="685804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Calibri"/>
                <a:ea typeface="Calibri"/>
                <a:cs typeface="Calibri"/>
                <a:sym typeface="Calibri"/>
              </a:rPr>
              <a:t>Agent Function and Agent Program</a:t>
            </a:r>
            <a:endParaRPr sz="32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0"/>
          <p:cNvSpPr txBox="1"/>
          <p:nvPr>
            <p:ph type="title"/>
          </p:nvPr>
        </p:nvSpPr>
        <p:spPr>
          <a:xfrm>
            <a:off x="323528" y="19016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Good behaviour</a:t>
            </a:r>
            <a:endParaRPr/>
          </a:p>
        </p:txBody>
      </p:sp>
      <p:sp>
        <p:nvSpPr>
          <p:cNvPr id="205" name="Google Shape;205;p10"/>
          <p:cNvSpPr txBox="1"/>
          <p:nvPr>
            <p:ph idx="1" type="body"/>
          </p:nvPr>
        </p:nvSpPr>
        <p:spPr>
          <a:xfrm>
            <a:off x="428596" y="1357298"/>
            <a:ext cx="8229600" cy="4525963"/>
          </a:xfrm>
          <a:prstGeom prst="rect">
            <a:avLst/>
          </a:prstGeom>
          <a:noFill/>
          <a:ln>
            <a:noFill/>
          </a:ln>
        </p:spPr>
        <p:txBody>
          <a:bodyPr anchorCtr="0" anchor="t" bIns="45700" lIns="91425" spcFirstLastPara="1" rIns="91425" wrap="square" tIns="45700">
            <a:normAutofit fontScale="92500"/>
          </a:bodyPr>
          <a:lstStyle/>
          <a:p>
            <a:pPr indent="-742950" lvl="0" marL="742950" rtl="0" algn="l">
              <a:spcBef>
                <a:spcPts val="0"/>
              </a:spcBef>
              <a:spcAft>
                <a:spcPts val="0"/>
              </a:spcAft>
              <a:buClr>
                <a:schemeClr val="dk1"/>
              </a:buClr>
              <a:buSzPct val="100000"/>
              <a:buFont typeface="Calibri"/>
              <a:buAutoNum type="arabicPeriod"/>
            </a:pPr>
            <a:r>
              <a:rPr lang="en-US" sz="3600"/>
              <a:t>Rationality: Agent selects action which maximizes the performance</a:t>
            </a:r>
            <a:endParaRPr/>
          </a:p>
          <a:p>
            <a:pPr indent="-742950" lvl="0" marL="742950" rtl="0" algn="l">
              <a:spcBef>
                <a:spcPts val="666"/>
              </a:spcBef>
              <a:spcAft>
                <a:spcPts val="0"/>
              </a:spcAft>
              <a:buClr>
                <a:schemeClr val="dk1"/>
              </a:buClr>
              <a:buSzPct val="100000"/>
              <a:buFont typeface="Calibri"/>
              <a:buAutoNum type="arabicPeriod"/>
            </a:pPr>
            <a:r>
              <a:rPr lang="en-US" sz="3600"/>
              <a:t>Learn: Agent should learn from perceive sequences</a:t>
            </a:r>
            <a:endParaRPr/>
          </a:p>
          <a:p>
            <a:pPr indent="-742950" lvl="0" marL="742950" rtl="0" algn="l">
              <a:spcBef>
                <a:spcPts val="666"/>
              </a:spcBef>
              <a:spcAft>
                <a:spcPts val="0"/>
              </a:spcAft>
              <a:buClr>
                <a:schemeClr val="dk1"/>
              </a:buClr>
              <a:buSzPct val="100000"/>
              <a:buFont typeface="Calibri"/>
              <a:buAutoNum type="arabicPeriod"/>
            </a:pPr>
            <a:r>
              <a:rPr lang="en-US" sz="3600"/>
              <a:t>Omniscient: Agent should know the outcome of its actions</a:t>
            </a:r>
            <a:endParaRPr/>
          </a:p>
          <a:p>
            <a:pPr indent="-742950" lvl="0" marL="742950" rtl="0" algn="l">
              <a:spcBef>
                <a:spcPts val="666"/>
              </a:spcBef>
              <a:spcAft>
                <a:spcPts val="0"/>
              </a:spcAft>
              <a:buClr>
                <a:schemeClr val="dk1"/>
              </a:buClr>
              <a:buSzPct val="100000"/>
              <a:buFont typeface="Calibri"/>
              <a:buAutoNum type="arabicPeriod"/>
            </a:pPr>
            <a:r>
              <a:rPr lang="en-US" sz="3600"/>
              <a:t>Autonomous: Agent should compensate for half/inaccurate knowledge</a:t>
            </a:r>
            <a:endParaRPr/>
          </a:p>
        </p:txBody>
      </p:sp>
      <p:sp>
        <p:nvSpPr>
          <p:cNvPr id="206" name="Google Shape;206;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1"/>
          <p:cNvSpPr txBox="1"/>
          <p:nvPr>
            <p:ph idx="1" type="body"/>
          </p:nvPr>
        </p:nvSpPr>
        <p:spPr>
          <a:xfrm>
            <a:off x="428596" y="1285860"/>
            <a:ext cx="8229600" cy="58975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4000"/>
              <a:buChar char="•"/>
            </a:pPr>
            <a:r>
              <a:rPr lang="en-US" sz="4000"/>
              <a:t>Specifying the task environment</a:t>
            </a:r>
            <a:endParaRPr/>
          </a:p>
          <a:p>
            <a:pPr indent="-342900" lvl="0" marL="342900" rtl="0" algn="l">
              <a:spcBef>
                <a:spcPts val="800"/>
              </a:spcBef>
              <a:spcAft>
                <a:spcPts val="0"/>
              </a:spcAft>
              <a:buClr>
                <a:schemeClr val="dk1"/>
              </a:buClr>
              <a:buSzPts val="4000"/>
              <a:buChar char="•"/>
            </a:pPr>
            <a:r>
              <a:rPr lang="en-US" sz="4000"/>
              <a:t>task environment specification includes the performance measure, the external environment, the actuators, and the sensors </a:t>
            </a:r>
            <a:endParaRPr sz="4000"/>
          </a:p>
        </p:txBody>
      </p:sp>
      <p:sp>
        <p:nvSpPr>
          <p:cNvPr id="212" name="Google Shape;212;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3" name="Google Shape;213;p11"/>
          <p:cNvSpPr txBox="1"/>
          <p:nvPr>
            <p:ph type="title"/>
          </p:nvPr>
        </p:nvSpPr>
        <p:spPr>
          <a:xfrm>
            <a:off x="500034" y="21429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Nature of environments</a:t>
            </a:r>
            <a:endParaRPr>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2"/>
          <p:cNvSpPr txBox="1"/>
          <p:nvPr>
            <p:ph idx="1" type="body"/>
          </p:nvPr>
        </p:nvSpPr>
        <p:spPr>
          <a:xfrm>
            <a:off x="428596" y="1285860"/>
            <a:ext cx="8229600" cy="58975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4000"/>
              <a:buChar char="•"/>
            </a:pPr>
            <a:r>
              <a:rPr lang="en-US" sz="4000"/>
              <a:t>Task performance can be measured by following parameters</a:t>
            </a:r>
            <a:endParaRPr/>
          </a:p>
          <a:p>
            <a:pPr indent="0" lvl="0" marL="0" rtl="0" algn="l">
              <a:spcBef>
                <a:spcPts val="800"/>
              </a:spcBef>
              <a:spcAft>
                <a:spcPts val="0"/>
              </a:spcAft>
              <a:buClr>
                <a:schemeClr val="dk1"/>
              </a:buClr>
              <a:buSzPts val="4000"/>
              <a:buNone/>
            </a:pPr>
            <a:r>
              <a:rPr lang="en-US" sz="4000"/>
              <a:t>PEAS (Performance, Environment, Actuators, Sensors) description </a:t>
            </a:r>
            <a:endParaRPr sz="4000"/>
          </a:p>
        </p:txBody>
      </p:sp>
      <p:sp>
        <p:nvSpPr>
          <p:cNvPr id="219" name="Google Shape;21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0" name="Google Shape;220;p12"/>
          <p:cNvSpPr txBox="1"/>
          <p:nvPr>
            <p:ph type="title"/>
          </p:nvPr>
        </p:nvSpPr>
        <p:spPr>
          <a:xfrm>
            <a:off x="500034" y="21429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Nature of environments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3"/>
          <p:cNvSpPr txBox="1"/>
          <p:nvPr>
            <p:ph type="title"/>
          </p:nvPr>
        </p:nvSpPr>
        <p:spPr>
          <a:xfrm>
            <a:off x="457200" y="405266"/>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br>
              <a:rPr lang="en-US"/>
            </a:br>
            <a:r>
              <a:rPr lang="en-US"/>
              <a:t>Example: Taxi Driver</a:t>
            </a:r>
            <a:br>
              <a:rPr lang="en-US"/>
            </a:br>
            <a:endParaRPr/>
          </a:p>
        </p:txBody>
      </p:sp>
      <p:sp>
        <p:nvSpPr>
          <p:cNvPr id="226" name="Google Shape;226;p13"/>
          <p:cNvSpPr txBox="1"/>
          <p:nvPr>
            <p:ph idx="1" type="body"/>
          </p:nvPr>
        </p:nvSpPr>
        <p:spPr>
          <a:xfrm>
            <a:off x="214282" y="1928802"/>
            <a:ext cx="87630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a:t>Taxi Driver =</a:t>
            </a:r>
            <a:r>
              <a:rPr b="1" lang="en-US"/>
              <a:t> Agent Type 	</a:t>
            </a:r>
            <a:endParaRPr/>
          </a:p>
          <a:p>
            <a:pPr indent="-342900" lvl="0" marL="342900" rtl="0" algn="l">
              <a:spcBef>
                <a:spcPts val="592"/>
              </a:spcBef>
              <a:spcAft>
                <a:spcPts val="0"/>
              </a:spcAft>
              <a:buClr>
                <a:schemeClr val="dk1"/>
              </a:buClr>
              <a:buSzPct val="100000"/>
              <a:buChar char="•"/>
            </a:pPr>
            <a:r>
              <a:rPr lang="en-US"/>
              <a:t>Safe, fast, legal, comfortable trip, maximize profits 	=</a:t>
            </a:r>
            <a:r>
              <a:rPr b="1" lang="en-US"/>
              <a:t>Performance Measure 	</a:t>
            </a:r>
            <a:endParaRPr/>
          </a:p>
          <a:p>
            <a:pPr indent="-342900" lvl="0" marL="342900" rtl="0" algn="l">
              <a:spcBef>
                <a:spcPts val="592"/>
              </a:spcBef>
              <a:spcAft>
                <a:spcPts val="0"/>
              </a:spcAft>
              <a:buClr>
                <a:schemeClr val="dk1"/>
              </a:buClr>
              <a:buSzPct val="100000"/>
              <a:buChar char="•"/>
            </a:pPr>
            <a:r>
              <a:rPr lang="en-US"/>
              <a:t>Roads and other traffic, pedestrians, customers=</a:t>
            </a:r>
            <a:r>
              <a:rPr b="1" lang="en-US"/>
              <a:t>Environment 	</a:t>
            </a:r>
            <a:endParaRPr/>
          </a:p>
          <a:p>
            <a:pPr indent="-342900" lvl="0" marL="342900" rtl="0" algn="l">
              <a:spcBef>
                <a:spcPts val="592"/>
              </a:spcBef>
              <a:spcAft>
                <a:spcPts val="0"/>
              </a:spcAft>
              <a:buClr>
                <a:schemeClr val="dk1"/>
              </a:buClr>
              <a:buSzPct val="100000"/>
              <a:buChar char="•"/>
            </a:pPr>
            <a:r>
              <a:rPr lang="en-US"/>
              <a:t>Steering, accelerator, brake, signal horn, display=</a:t>
            </a:r>
            <a:r>
              <a:rPr b="1" lang="en-US"/>
              <a:t>Actuators 	</a:t>
            </a:r>
            <a:endParaRPr/>
          </a:p>
          <a:p>
            <a:pPr indent="-342900" lvl="0" marL="342900" rtl="0" algn="l">
              <a:spcBef>
                <a:spcPts val="592"/>
              </a:spcBef>
              <a:spcAft>
                <a:spcPts val="0"/>
              </a:spcAft>
              <a:buClr>
                <a:schemeClr val="dk1"/>
              </a:buClr>
              <a:buSzPct val="100000"/>
              <a:buChar char="•"/>
            </a:pPr>
            <a:r>
              <a:rPr lang="en-US"/>
              <a:t>Cameras, sonar, speedometer, GPS, odometer, accelerometer, engine sensors, keyboard =</a:t>
            </a:r>
            <a:r>
              <a:rPr b="1" lang="en-US"/>
              <a:t>Sensors 	</a:t>
            </a:r>
            <a:endParaRPr/>
          </a:p>
          <a:p>
            <a:pPr indent="-342900" lvl="0" marL="342900" rtl="0" algn="l">
              <a:spcBef>
                <a:spcPts val="592"/>
              </a:spcBef>
              <a:spcAft>
                <a:spcPts val="0"/>
              </a:spcAft>
              <a:buClr>
                <a:schemeClr val="dk1"/>
              </a:buClr>
              <a:buSzPct val="100000"/>
              <a:buNone/>
            </a:pPr>
            <a:r>
              <a:t/>
            </a:r>
            <a:endParaRPr/>
          </a:p>
        </p:txBody>
      </p:sp>
      <p:sp>
        <p:nvSpPr>
          <p:cNvPr id="227" name="Google Shape;227;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Problem Solving in AI</a:t>
            </a:r>
            <a:endParaRPr/>
          </a:p>
        </p:txBody>
      </p:sp>
      <p:sp>
        <p:nvSpPr>
          <p:cNvPr id="233" name="Google Shape;23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AI solves problems by search.</a:t>
            </a:r>
            <a:endParaRPr/>
          </a:p>
          <a:p>
            <a:pPr indent="-342900" lvl="0" marL="342900" rtl="0" algn="l">
              <a:spcBef>
                <a:spcPts val="640"/>
              </a:spcBef>
              <a:spcAft>
                <a:spcPts val="0"/>
              </a:spcAft>
              <a:buClr>
                <a:schemeClr val="dk1"/>
              </a:buClr>
              <a:buSzPts val="3200"/>
              <a:buChar char="•"/>
            </a:pPr>
            <a:r>
              <a:rPr b="1" lang="en-US"/>
              <a:t>Start state → Operators → Goal state</a:t>
            </a:r>
            <a:endParaRPr/>
          </a:p>
          <a:p>
            <a:pPr indent="-342900" lvl="0" marL="342900" rtl="0" algn="l">
              <a:spcBef>
                <a:spcPts val="640"/>
              </a:spcBef>
              <a:spcAft>
                <a:spcPts val="0"/>
              </a:spcAft>
              <a:buClr>
                <a:schemeClr val="dk1"/>
              </a:buClr>
              <a:buSzPts val="3200"/>
              <a:buChar char="•"/>
            </a:pPr>
            <a:r>
              <a:rPr b="1" lang="en-US"/>
              <a:t>Examples:</a:t>
            </a:r>
            <a:br>
              <a:rPr lang="en-US"/>
            </a:br>
            <a:r>
              <a:rPr lang="en-US"/>
              <a:t>Shortest path in Google Maps</a:t>
            </a:r>
            <a:br>
              <a:rPr lang="en-US"/>
            </a:br>
            <a:r>
              <a:rPr lang="en-US"/>
              <a:t>Maze solving</a:t>
            </a:r>
            <a:endParaRPr/>
          </a:p>
          <a:p>
            <a:pPr indent="0" lvl="0" marL="0" rtl="0" algn="l">
              <a:spcBef>
                <a:spcPts val="640"/>
              </a:spcBef>
              <a:spcAft>
                <a:spcPts val="0"/>
              </a:spcAft>
              <a:buClr>
                <a:schemeClr val="dk1"/>
              </a:buClr>
              <a:buSzPts val="3200"/>
              <a:buNone/>
            </a:pPr>
            <a:r>
              <a:t/>
            </a:r>
            <a:endParaRPr/>
          </a:p>
        </p:txBody>
      </p:sp>
      <p:sp>
        <p:nvSpPr>
          <p:cNvPr id="234" name="Google Shape;23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Steps in Problem Solving in AI</a:t>
            </a:r>
            <a:endParaRPr/>
          </a:p>
        </p:txBody>
      </p:sp>
      <p:sp>
        <p:nvSpPr>
          <p:cNvPr id="240" name="Google Shape;240;p15"/>
          <p:cNvSpPr txBox="1"/>
          <p:nvPr>
            <p:ph idx="1" type="body"/>
          </p:nvPr>
        </p:nvSpPr>
        <p:spPr>
          <a:xfrm>
            <a:off x="457200" y="1600200"/>
            <a:ext cx="8229600" cy="4983162"/>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a:t>AI problem solving follows a structured, logical process similar to human thinking, its steps include:</a:t>
            </a:r>
            <a:endParaRPr/>
          </a:p>
          <a:p>
            <a:pPr indent="-514350" lvl="0" marL="514350" rtl="0" algn="l">
              <a:spcBef>
                <a:spcPts val="592"/>
              </a:spcBef>
              <a:spcAft>
                <a:spcPts val="0"/>
              </a:spcAft>
              <a:buClr>
                <a:schemeClr val="dk1"/>
              </a:buClr>
              <a:buSzPct val="100000"/>
              <a:buFont typeface="Calibri"/>
              <a:buAutoNum type="arabicPeriod"/>
            </a:pPr>
            <a:r>
              <a:rPr b="1" lang="en-US"/>
              <a:t>Problem Definition:</a:t>
            </a:r>
            <a:r>
              <a:rPr lang="en-US"/>
              <a:t> First, the problem needs to be clearly defined. This includes understanding the inputs, constraints and what the solution should look like.</a:t>
            </a:r>
            <a:endParaRPr/>
          </a:p>
          <a:p>
            <a:pPr indent="-514350" lvl="0" marL="514350" rtl="0" algn="l">
              <a:spcBef>
                <a:spcPts val="592"/>
              </a:spcBef>
              <a:spcAft>
                <a:spcPts val="0"/>
              </a:spcAft>
              <a:buClr>
                <a:schemeClr val="dk1"/>
              </a:buClr>
              <a:buSzPct val="100000"/>
              <a:buFont typeface="Calibri"/>
              <a:buAutoNum type="arabicPeriod"/>
            </a:pPr>
            <a:r>
              <a:rPr b="1" lang="en-US"/>
              <a:t>Problem Analysis: </a:t>
            </a:r>
            <a:r>
              <a:rPr lang="en-US"/>
              <a:t>Once the problem is defined, it’s analyzed in more detail. This helps in understanding its limitations and possible solutions.</a:t>
            </a:r>
            <a:endParaRPr/>
          </a:p>
        </p:txBody>
      </p:sp>
      <p:sp>
        <p:nvSpPr>
          <p:cNvPr id="241" name="Google Shape;241;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6"/>
          <p:cNvSpPr txBox="1"/>
          <p:nvPr>
            <p:ph idx="1" type="body"/>
          </p:nvPr>
        </p:nvSpPr>
        <p:spPr>
          <a:xfrm>
            <a:off x="457200" y="404664"/>
            <a:ext cx="8435280" cy="5951686"/>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3200"/>
              <a:buNone/>
            </a:pPr>
            <a:r>
              <a:rPr b="1" lang="en-US"/>
              <a:t>3. Knowledge Representation: </a:t>
            </a:r>
            <a:r>
              <a:rPr lang="en-US"/>
              <a:t>All the important information is organized so the AI can understand and work with it. This could include creating graphs or using databases.</a:t>
            </a:r>
            <a:endParaRPr/>
          </a:p>
          <a:p>
            <a:pPr indent="0" lvl="0" marL="0" rtl="0" algn="l">
              <a:spcBef>
                <a:spcPts val="640"/>
              </a:spcBef>
              <a:spcAft>
                <a:spcPts val="0"/>
              </a:spcAft>
              <a:buClr>
                <a:schemeClr val="dk1"/>
              </a:buClr>
              <a:buSzPts val="3200"/>
              <a:buNone/>
            </a:pPr>
            <a:r>
              <a:rPr b="1" lang="en-US"/>
              <a:t>4. Problem Solving:</a:t>
            </a:r>
            <a:r>
              <a:rPr lang="en-US"/>
              <a:t> AI uses appropriate methods to solve the problem. This often means comparing different strategies to find the most efficient one.</a:t>
            </a:r>
            <a:endParaRPr/>
          </a:p>
          <a:p>
            <a:pPr indent="0" lvl="0" marL="0" rtl="0" algn="l">
              <a:spcBef>
                <a:spcPts val="640"/>
              </a:spcBef>
              <a:spcAft>
                <a:spcPts val="0"/>
              </a:spcAft>
              <a:buClr>
                <a:schemeClr val="dk1"/>
              </a:buClr>
              <a:buSzPts val="3200"/>
              <a:buNone/>
            </a:pPr>
            <a:r>
              <a:rPr b="1" lang="en-US"/>
              <a:t>5. Testing and Evaluation:</a:t>
            </a:r>
            <a:r>
              <a:rPr lang="en-US"/>
              <a:t> Finally, after the solution is implemented, testing and evaluation ensure the solution meets all requirements and performs as expected.</a:t>
            </a:r>
            <a:endParaRPr/>
          </a:p>
        </p:txBody>
      </p:sp>
      <p:sp>
        <p:nvSpPr>
          <p:cNvPr id="247" name="Google Shape;247;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bc116d102d_0_18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Types of Problems in AI</a:t>
            </a:r>
            <a:endParaRPr/>
          </a:p>
        </p:txBody>
      </p:sp>
      <p:sp>
        <p:nvSpPr>
          <p:cNvPr id="254" name="Google Shape;254;g3bc116d102d_0_181"/>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AutoNum type="arabicPeriod"/>
            </a:pPr>
            <a:r>
              <a:rPr lang="en-US"/>
              <a:t>Ignorable Problem</a:t>
            </a:r>
            <a:endParaRPr/>
          </a:p>
          <a:p>
            <a:pPr indent="-342900" lvl="0" marL="457200" rtl="0" algn="l">
              <a:spcBef>
                <a:spcPts val="0"/>
              </a:spcBef>
              <a:spcAft>
                <a:spcPts val="0"/>
              </a:spcAft>
              <a:buSzPts val="1800"/>
              <a:buAutoNum type="arabicPeriod"/>
            </a:pPr>
            <a:r>
              <a:rPr lang="en-US"/>
              <a:t>Recoverable</a:t>
            </a:r>
            <a:r>
              <a:rPr lang="en-US"/>
              <a:t> </a:t>
            </a:r>
            <a:r>
              <a:rPr lang="en-US"/>
              <a:t>problem</a:t>
            </a:r>
            <a:endParaRPr/>
          </a:p>
          <a:p>
            <a:pPr indent="-342900" lvl="0" marL="457200" rtl="0" algn="l">
              <a:spcBef>
                <a:spcPts val="0"/>
              </a:spcBef>
              <a:spcAft>
                <a:spcPts val="0"/>
              </a:spcAft>
              <a:buSzPts val="1800"/>
              <a:buAutoNum type="arabicPeriod"/>
            </a:pPr>
            <a:r>
              <a:rPr lang="en-US"/>
              <a:t>Irrecoverable problem</a:t>
            </a:r>
            <a:endParaRPr/>
          </a:p>
        </p:txBody>
      </p:sp>
      <p:sp>
        <p:nvSpPr>
          <p:cNvPr id="255" name="Google Shape;255;g3bc116d102d_0_18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Key Components of Problem Formulation in AI</a:t>
            </a:r>
            <a:endParaRPr/>
          </a:p>
        </p:txBody>
      </p:sp>
      <p:sp>
        <p:nvSpPr>
          <p:cNvPr id="261" name="Google Shape;261;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Initial State: </a:t>
            </a:r>
            <a:r>
              <a:rPr lang="en-US"/>
              <a:t>This is the starting point of the problem where the AI begins its process. It sets the context and helps identify how the agent will approach the challenge.</a:t>
            </a:r>
            <a:endParaRPr/>
          </a:p>
          <a:p>
            <a:pPr indent="-342900" lvl="0" marL="342900" rtl="0" algn="l">
              <a:spcBef>
                <a:spcPts val="640"/>
              </a:spcBef>
              <a:spcAft>
                <a:spcPts val="0"/>
              </a:spcAft>
              <a:buClr>
                <a:schemeClr val="dk1"/>
              </a:buClr>
              <a:buSzPts val="3200"/>
              <a:buChar char="•"/>
            </a:pPr>
            <a:r>
              <a:rPr b="1" lang="en-US"/>
              <a:t>Action:</a:t>
            </a:r>
            <a:r>
              <a:rPr lang="en-US"/>
              <a:t> At this stage, AI identifies all the possible actions it can take from the initial state. Each action has an impact on how the system moves closer to solving the problem.</a:t>
            </a:r>
            <a:endParaRPr/>
          </a:p>
        </p:txBody>
      </p:sp>
      <p:sp>
        <p:nvSpPr>
          <p:cNvPr id="262" name="Google Shape;26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8"/>
          <p:cNvSpPr txBox="1"/>
          <p:nvPr>
            <p:ph idx="1" type="body"/>
          </p:nvPr>
        </p:nvSpPr>
        <p:spPr>
          <a:xfrm>
            <a:off x="457200" y="332656"/>
            <a:ext cx="8229600" cy="5793507"/>
          </a:xfrm>
          <a:prstGeom prst="rect">
            <a:avLst/>
          </a:prstGeom>
          <a:noFill/>
          <a:ln>
            <a:noFill/>
          </a:ln>
        </p:spPr>
        <p:txBody>
          <a:bodyPr anchorCtr="0" anchor="t" bIns="45700" lIns="91425" spcFirstLastPara="1" rIns="91425" wrap="square" tIns="45700">
            <a:normAutofit lnSpcReduction="20000"/>
          </a:bodyPr>
          <a:lstStyle/>
          <a:p>
            <a:pPr indent="-358140" lvl="0" marL="342900" rtl="0" algn="l">
              <a:spcBef>
                <a:spcPts val="0"/>
              </a:spcBef>
              <a:spcAft>
                <a:spcPts val="0"/>
              </a:spcAft>
              <a:buClr>
                <a:schemeClr val="dk1"/>
              </a:buClr>
              <a:buSzPts val="3200"/>
              <a:buChar char="•"/>
            </a:pPr>
            <a:r>
              <a:rPr b="1" lang="en-US"/>
              <a:t>Transition:</a:t>
            </a:r>
            <a:r>
              <a:rPr lang="en-US"/>
              <a:t> This refers to how the system changes from one state to another after an action is taken. Transition modeling helps show how the agent’s actions influence the next steps.</a:t>
            </a:r>
            <a:endParaRPr/>
          </a:p>
          <a:p>
            <a:pPr indent="-358140" lvl="0" marL="342900" rtl="0" algn="l">
              <a:spcBef>
                <a:spcPts val="592"/>
              </a:spcBef>
              <a:spcAft>
                <a:spcPts val="0"/>
              </a:spcAft>
              <a:buClr>
                <a:schemeClr val="dk1"/>
              </a:buClr>
              <a:buSzPts val="3200"/>
              <a:buChar char="•"/>
            </a:pPr>
            <a:r>
              <a:rPr b="1" lang="en-US"/>
              <a:t>Goal State:</a:t>
            </a:r>
            <a:r>
              <a:rPr lang="en-US"/>
              <a:t> Once an action is taken, AI checks if it has reached its goal. If the goal is achieved, the problem-solving process stops and the solution is considered complete.</a:t>
            </a:r>
            <a:endParaRPr/>
          </a:p>
          <a:p>
            <a:pPr indent="-358140" lvl="0" marL="342900" rtl="0" algn="l">
              <a:spcBef>
                <a:spcPts val="592"/>
              </a:spcBef>
              <a:spcAft>
                <a:spcPts val="0"/>
              </a:spcAft>
              <a:buClr>
                <a:schemeClr val="dk1"/>
              </a:buClr>
              <a:buSzPts val="3200"/>
              <a:buChar char="•"/>
            </a:pPr>
            <a:r>
              <a:rPr b="1" lang="en-US"/>
              <a:t>Cost Function:</a:t>
            </a:r>
            <a:r>
              <a:rPr lang="en-US"/>
              <a:t> This step assigns a numerical value to the cost of achieving the goal. The cost can include resources like time, energy or money and helps decide the most efficient way to reach the goal.</a:t>
            </a:r>
            <a:endParaRPr/>
          </a:p>
        </p:txBody>
      </p:sp>
      <p:sp>
        <p:nvSpPr>
          <p:cNvPr id="268" name="Google Shape;26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3bc116d102d_0_49"/>
          <p:cNvSpPr txBox="1"/>
          <p:nvPr>
            <p:ph idx="1" type="body"/>
          </p:nvPr>
        </p:nvSpPr>
        <p:spPr>
          <a:xfrm>
            <a:off x="457200" y="710900"/>
            <a:ext cx="8229600" cy="58125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a:t>Initial state, actions, and transition model together define the state-space of the problem implicitly. State-space of a problem is a set of all states which can be reached from the initial state followed by any sequence of actions. </a:t>
            </a:r>
            <a:endParaRPr/>
          </a:p>
          <a:p>
            <a:pPr indent="-342900" lvl="0" marL="457200" rtl="0" algn="l">
              <a:spcBef>
                <a:spcPts val="0"/>
              </a:spcBef>
              <a:spcAft>
                <a:spcPts val="0"/>
              </a:spcAft>
              <a:buSzPts val="1800"/>
              <a:buChar char="•"/>
            </a:pPr>
            <a:r>
              <a:rPr lang="en-US"/>
              <a:t>The state-space forms a directed map or graph where nodes are the states, links between the nodes are actions, and the path is a sequence of states connected by the sequence of actions.</a:t>
            </a:r>
            <a:endParaRPr/>
          </a:p>
        </p:txBody>
      </p:sp>
      <p:sp>
        <p:nvSpPr>
          <p:cNvPr id="275" name="Google Shape;275;g3bc116d102d_0_4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bc116d102d_0_64"/>
          <p:cNvSpPr txBox="1"/>
          <p:nvPr>
            <p:ph idx="1" type="body"/>
          </p:nvPr>
        </p:nvSpPr>
        <p:spPr>
          <a:xfrm>
            <a:off x="457200" y="815425"/>
            <a:ext cx="8229600" cy="53109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a:t>Search: It identifies all the best possible sequence of actions to reach the goal state from the current state. It takes a problem as an input and returns solution as its output.  </a:t>
            </a:r>
            <a:endParaRPr/>
          </a:p>
          <a:p>
            <a:pPr indent="-342900" lvl="0" marL="457200" rtl="0" algn="l">
              <a:spcBef>
                <a:spcPts val="0"/>
              </a:spcBef>
              <a:spcAft>
                <a:spcPts val="0"/>
              </a:spcAft>
              <a:buSzPts val="1800"/>
              <a:buChar char="•"/>
            </a:pPr>
            <a:r>
              <a:rPr lang="en-US"/>
              <a:t>Solution: It finds the best algorithm out of various algorithms, which may be proven as the best optimal solution</a:t>
            </a:r>
            <a:endParaRPr/>
          </a:p>
        </p:txBody>
      </p:sp>
      <p:sp>
        <p:nvSpPr>
          <p:cNvPr id="282" name="Google Shape;282;g3bc116d102d_0_6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bc116d102d_0_86"/>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Example Problem: 8 word Puzzle</a:t>
            </a:r>
            <a:endParaRPr/>
          </a:p>
        </p:txBody>
      </p:sp>
      <p:sp>
        <p:nvSpPr>
          <p:cNvPr id="289" name="Google Shape;289;g3bc116d102d_0_86"/>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a:t>Here, we have a 3×3 matrix with movable tiles numbered from 1 to 8 with a blank space. The tile adjacent to the blank space can slide into that space. </a:t>
            </a:r>
            <a:endParaRPr/>
          </a:p>
          <a:p>
            <a:pPr indent="0" lvl="0" marL="0" rtl="0" algn="l">
              <a:spcBef>
                <a:spcPts val="360"/>
              </a:spcBef>
              <a:spcAft>
                <a:spcPts val="0"/>
              </a:spcAft>
              <a:buNone/>
            </a:pPr>
            <a:r>
              <a:rPr lang="en-US"/>
              <a:t>The objective is to reach a specified goal state similar to the goal state, as shown in the below figure</a:t>
            </a:r>
            <a:endParaRPr/>
          </a:p>
        </p:txBody>
      </p:sp>
      <p:sp>
        <p:nvSpPr>
          <p:cNvPr id="290" name="Google Shape;290;g3bc116d102d_0_86"/>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bc116d102d_0_94"/>
          <p:cNvSpPr txBox="1"/>
          <p:nvPr>
            <p:ph type="title"/>
          </p:nvPr>
        </p:nvSpPr>
        <p:spPr>
          <a:xfrm>
            <a:off x="457200" y="274638"/>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SzPts val="990"/>
              <a:buNone/>
            </a:pPr>
            <a:r>
              <a:rPr lang="en-US" sz="2860"/>
              <a:t>In the figure, our task is to convert the current state into goal state by sliding digits into the blank space.</a:t>
            </a:r>
            <a:endParaRPr sz="2760"/>
          </a:p>
        </p:txBody>
      </p:sp>
      <p:sp>
        <p:nvSpPr>
          <p:cNvPr id="297" name="Google Shape;297;g3bc116d102d_0_9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98" name="Google Shape;298;g3bc116d102d_0_94" title="Screenshot 2026-01-28 202037.png"/>
          <p:cNvPicPr preferRelativeResize="0"/>
          <p:nvPr/>
        </p:nvPicPr>
        <p:blipFill rotWithShape="1">
          <a:blip r:embed="rId3">
            <a:alphaModFix/>
          </a:blip>
          <a:srcRect b="-33826" l="-39134" r="-46601" t="-46776"/>
          <a:stretch/>
        </p:blipFill>
        <p:spPr>
          <a:xfrm>
            <a:off x="283075" y="1547225"/>
            <a:ext cx="8403725" cy="54181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3bc116d102d_0_103"/>
          <p:cNvSpPr txBox="1"/>
          <p:nvPr>
            <p:ph type="title"/>
          </p:nvPr>
        </p:nvSpPr>
        <p:spPr>
          <a:xfrm>
            <a:off x="457200" y="274638"/>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SzPts val="990"/>
              <a:buNone/>
            </a:pPr>
            <a:r>
              <a:rPr lang="en-US" sz="2760"/>
              <a:t>In the above figure, our task is to convert the current(Start) state into goal state by sliding digits into the blank space.</a:t>
            </a:r>
            <a:endParaRPr sz="2760"/>
          </a:p>
        </p:txBody>
      </p:sp>
      <p:sp>
        <p:nvSpPr>
          <p:cNvPr id="305" name="Google Shape;305;g3bc116d102d_0_103"/>
          <p:cNvSpPr txBox="1"/>
          <p:nvPr>
            <p:ph idx="1" type="body"/>
          </p:nvPr>
        </p:nvSpPr>
        <p:spPr>
          <a:xfrm>
            <a:off x="457200" y="1600200"/>
            <a:ext cx="8229600" cy="4902300"/>
          </a:xfrm>
          <a:prstGeom prst="rect">
            <a:avLst/>
          </a:prstGeom>
        </p:spPr>
        <p:txBody>
          <a:bodyPr anchorCtr="0" anchor="t" bIns="45700" lIns="91425" spcFirstLastPara="1" rIns="91425" wrap="square" tIns="45700">
            <a:normAutofit lnSpcReduction="10000"/>
          </a:bodyPr>
          <a:lstStyle/>
          <a:p>
            <a:pPr indent="0" lvl="0" marL="0" rtl="0" algn="l">
              <a:spcBef>
                <a:spcPts val="360"/>
              </a:spcBef>
              <a:spcAft>
                <a:spcPts val="0"/>
              </a:spcAft>
              <a:buNone/>
            </a:pPr>
            <a:r>
              <a:rPr lang="en-US"/>
              <a:t>The problem formulation is as follows:  </a:t>
            </a:r>
            <a:endParaRPr/>
          </a:p>
          <a:p>
            <a:pPr indent="0" lvl="0" marL="0" rtl="0" algn="l">
              <a:spcBef>
                <a:spcPts val="360"/>
              </a:spcBef>
              <a:spcAft>
                <a:spcPts val="0"/>
              </a:spcAft>
              <a:buNone/>
            </a:pPr>
            <a:r>
              <a:t/>
            </a:r>
            <a:endParaRPr/>
          </a:p>
          <a:p>
            <a:pPr indent="-342900" lvl="0" marL="457200" rtl="0" algn="l">
              <a:spcBef>
                <a:spcPts val="360"/>
              </a:spcBef>
              <a:spcAft>
                <a:spcPts val="0"/>
              </a:spcAft>
              <a:buSzPts val="1800"/>
              <a:buChar char="•"/>
            </a:pPr>
            <a:r>
              <a:rPr b="1" lang="en-US"/>
              <a:t>States</a:t>
            </a:r>
            <a:r>
              <a:rPr lang="en-US"/>
              <a:t>: It describes the location of each numbered tiles and the blank tile.  </a:t>
            </a:r>
            <a:endParaRPr/>
          </a:p>
          <a:p>
            <a:pPr indent="-342900" lvl="0" marL="457200" rtl="0" algn="l">
              <a:spcBef>
                <a:spcPts val="0"/>
              </a:spcBef>
              <a:spcAft>
                <a:spcPts val="0"/>
              </a:spcAft>
              <a:buSzPts val="1800"/>
              <a:buChar char="•"/>
            </a:pPr>
            <a:r>
              <a:rPr b="1" lang="en-US"/>
              <a:t>Initial State</a:t>
            </a:r>
            <a:r>
              <a:rPr lang="en-US"/>
              <a:t>: We can start from any state as the initial state.</a:t>
            </a:r>
            <a:endParaRPr/>
          </a:p>
          <a:p>
            <a:pPr indent="-342900" lvl="0" marL="457200" rtl="0" algn="l">
              <a:spcBef>
                <a:spcPts val="0"/>
              </a:spcBef>
              <a:spcAft>
                <a:spcPts val="0"/>
              </a:spcAft>
              <a:buSzPts val="1800"/>
              <a:buChar char="•"/>
            </a:pPr>
            <a:r>
              <a:rPr b="1" lang="en-US"/>
              <a:t>Actions</a:t>
            </a:r>
            <a:r>
              <a:rPr lang="en-US"/>
              <a:t>: Here, actions of the blank space is defined, i.e., either left, right, up or down  </a:t>
            </a:r>
            <a:endParaRPr/>
          </a:p>
          <a:p>
            <a:pPr indent="-342900" lvl="0" marL="457200" rtl="0" algn="l">
              <a:spcBef>
                <a:spcPts val="0"/>
              </a:spcBef>
              <a:spcAft>
                <a:spcPts val="0"/>
              </a:spcAft>
              <a:buSzPts val="1800"/>
              <a:buChar char="•"/>
            </a:pPr>
            <a:r>
              <a:rPr b="1" lang="en-US"/>
              <a:t>Transition Model:</a:t>
            </a:r>
            <a:r>
              <a:rPr lang="en-US"/>
              <a:t> It returns the resulting state as per the given state and actions.</a:t>
            </a:r>
            <a:endParaRPr/>
          </a:p>
        </p:txBody>
      </p:sp>
      <p:sp>
        <p:nvSpPr>
          <p:cNvPr id="306" name="Google Shape;306;g3bc116d102d_0_10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bc116d102d_0_113"/>
          <p:cNvSpPr txBox="1"/>
          <p:nvPr>
            <p:ph idx="1" type="body"/>
          </p:nvPr>
        </p:nvSpPr>
        <p:spPr>
          <a:xfrm>
            <a:off x="457200" y="794525"/>
            <a:ext cx="8229600" cy="53319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b="1" lang="en-US"/>
              <a:t>Goal test:</a:t>
            </a:r>
            <a:r>
              <a:rPr lang="en-US"/>
              <a:t> It identifies whether we have reached the correct goal-state.  </a:t>
            </a:r>
            <a:endParaRPr/>
          </a:p>
          <a:p>
            <a:pPr indent="0" lvl="0" marL="0" rtl="0" algn="l">
              <a:spcBef>
                <a:spcPts val="360"/>
              </a:spcBef>
              <a:spcAft>
                <a:spcPts val="0"/>
              </a:spcAft>
              <a:buNone/>
            </a:pPr>
            <a:r>
              <a:rPr b="1" lang="en-US"/>
              <a:t>Path cost: </a:t>
            </a:r>
            <a:r>
              <a:rPr lang="en-US"/>
              <a:t>The path cost is the number of steps in the path where the cost of each step is 1.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Note: The 8-puzzle problem is a type of sliding-block problem which is used for testing new search algorithms in artificial intelligence.</a:t>
            </a:r>
            <a:endParaRPr/>
          </a:p>
        </p:txBody>
      </p:sp>
      <p:sp>
        <p:nvSpPr>
          <p:cNvPr id="313" name="Google Shape;313;g3bc116d102d_0_11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3bc116d102d_0_121"/>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Measuring problem-solving performance </a:t>
            </a:r>
            <a:endParaRPr/>
          </a:p>
        </p:txBody>
      </p:sp>
      <p:sp>
        <p:nvSpPr>
          <p:cNvPr id="320" name="Google Shape;320;g3bc116d102d_0_121"/>
          <p:cNvSpPr txBox="1"/>
          <p:nvPr>
            <p:ph idx="1" type="body"/>
          </p:nvPr>
        </p:nvSpPr>
        <p:spPr>
          <a:xfrm>
            <a:off x="457200" y="1600200"/>
            <a:ext cx="8229600" cy="4986000"/>
          </a:xfrm>
          <a:prstGeom prst="rect">
            <a:avLst/>
          </a:prstGeom>
        </p:spPr>
        <p:txBody>
          <a:bodyPr anchorCtr="0" anchor="t" bIns="45700" lIns="91425" spcFirstLastPara="1" rIns="91425" wrap="square" tIns="45700">
            <a:normAutofit lnSpcReduction="10000"/>
          </a:bodyPr>
          <a:lstStyle/>
          <a:p>
            <a:pPr indent="0" lvl="0" marL="0" rtl="0" algn="l">
              <a:spcBef>
                <a:spcPts val="360"/>
              </a:spcBef>
              <a:spcAft>
                <a:spcPts val="0"/>
              </a:spcAft>
              <a:buNone/>
            </a:pPr>
            <a:r>
              <a:rPr lang="en-US"/>
              <a:t>Before discussing different search strategies, the performance measure of an algorithm should be measured. </a:t>
            </a:r>
            <a:endParaRPr/>
          </a:p>
          <a:p>
            <a:pPr indent="0" lvl="0" marL="0" rtl="0" algn="l">
              <a:spcBef>
                <a:spcPts val="360"/>
              </a:spcBef>
              <a:spcAft>
                <a:spcPts val="0"/>
              </a:spcAft>
              <a:buNone/>
            </a:pPr>
            <a:r>
              <a:rPr lang="en-US"/>
              <a:t>Consequently, There are four ways to measure the performance of an algorithm:</a:t>
            </a:r>
            <a:endParaRPr/>
          </a:p>
          <a:p>
            <a:pPr indent="-342900" lvl="0" marL="457200" rtl="0" algn="l">
              <a:spcBef>
                <a:spcPts val="360"/>
              </a:spcBef>
              <a:spcAft>
                <a:spcPts val="0"/>
              </a:spcAft>
              <a:buSzPts val="1800"/>
              <a:buChar char="•"/>
            </a:pPr>
            <a:r>
              <a:rPr b="1" lang="en-US"/>
              <a:t>Completeness</a:t>
            </a:r>
            <a:r>
              <a:rPr lang="en-US"/>
              <a:t>: It measures if the algorithm guarantees to find a solution (if any solution exist). </a:t>
            </a:r>
            <a:endParaRPr/>
          </a:p>
          <a:p>
            <a:pPr indent="-342900" lvl="0" marL="457200" rtl="0" algn="l">
              <a:spcBef>
                <a:spcPts val="0"/>
              </a:spcBef>
              <a:spcAft>
                <a:spcPts val="0"/>
              </a:spcAft>
              <a:buSzPts val="1800"/>
              <a:buChar char="•"/>
            </a:pPr>
            <a:r>
              <a:rPr b="1" lang="en-US"/>
              <a:t>Optimality:</a:t>
            </a:r>
            <a:r>
              <a:rPr lang="en-US"/>
              <a:t> It measures if the strategy searches for an optimal solution.</a:t>
            </a:r>
            <a:endParaRPr/>
          </a:p>
        </p:txBody>
      </p:sp>
      <p:sp>
        <p:nvSpPr>
          <p:cNvPr id="321" name="Google Shape;321;g3bc116d102d_0_12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3bc116d102d_0_131"/>
          <p:cNvSpPr txBox="1"/>
          <p:nvPr>
            <p:ph idx="1" type="body"/>
          </p:nvPr>
        </p:nvSpPr>
        <p:spPr>
          <a:xfrm>
            <a:off x="457200" y="710900"/>
            <a:ext cx="8229600" cy="54153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b="1" lang="en-US"/>
              <a:t>Time Complexity:</a:t>
            </a:r>
            <a:r>
              <a:rPr lang="en-US"/>
              <a:t> The time taken by the algorithm to find a solution. </a:t>
            </a:r>
            <a:endParaRPr/>
          </a:p>
          <a:p>
            <a:pPr indent="-342900" lvl="0" marL="457200" rtl="0" algn="l">
              <a:spcBef>
                <a:spcPts val="0"/>
              </a:spcBef>
              <a:spcAft>
                <a:spcPts val="0"/>
              </a:spcAft>
              <a:buSzPts val="1800"/>
              <a:buChar char="•"/>
            </a:pPr>
            <a:r>
              <a:rPr b="1" lang="en-US"/>
              <a:t>Space Complexity:</a:t>
            </a:r>
            <a:r>
              <a:rPr lang="en-US"/>
              <a:t> Amount of memory required to perform a search. The complexity of an algorithm depends on branching factor or maximum number of successors, depth of the shallowest goal node (i.e., number of steps from root to the path) and the maximum length of any path in a state space.</a:t>
            </a:r>
            <a:endParaRPr/>
          </a:p>
        </p:txBody>
      </p:sp>
      <p:sp>
        <p:nvSpPr>
          <p:cNvPr id="328" name="Google Shape;328;g3bc116d102d_0_13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Techniques for Problem Solving in AI</a:t>
            </a:r>
            <a:endParaRPr/>
          </a:p>
        </p:txBody>
      </p:sp>
      <p:sp>
        <p:nvSpPr>
          <p:cNvPr id="334" name="Google Shape;334;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342900" rtl="0" algn="l">
              <a:spcBef>
                <a:spcPts val="0"/>
              </a:spcBef>
              <a:spcAft>
                <a:spcPts val="0"/>
              </a:spcAft>
              <a:buNone/>
            </a:pPr>
            <a:r>
              <a:rPr lang="en-US"/>
              <a:t>1. Search Algorithms</a:t>
            </a:r>
            <a:endParaRPr/>
          </a:p>
          <a:p>
            <a:pPr indent="0" lvl="0" marL="342900" rtl="0" algn="l">
              <a:spcBef>
                <a:spcPts val="640"/>
              </a:spcBef>
              <a:spcAft>
                <a:spcPts val="0"/>
              </a:spcAft>
              <a:buNone/>
            </a:pPr>
            <a:r>
              <a:rPr lang="en-US"/>
              <a:t>2. Constraint Satisfaction Problems (CSP)</a:t>
            </a:r>
            <a:endParaRPr/>
          </a:p>
          <a:p>
            <a:pPr indent="0" lvl="0" marL="342900" rtl="0" algn="l">
              <a:spcBef>
                <a:spcPts val="640"/>
              </a:spcBef>
              <a:spcAft>
                <a:spcPts val="0"/>
              </a:spcAft>
              <a:buNone/>
            </a:pPr>
            <a:r>
              <a:rPr lang="en-US"/>
              <a:t>3. Optimization Techniques</a:t>
            </a:r>
            <a:endParaRPr/>
          </a:p>
        </p:txBody>
      </p:sp>
      <p:sp>
        <p:nvSpPr>
          <p:cNvPr id="335" name="Google Shape;335;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1. Search Algorithms</a:t>
            </a:r>
            <a:endParaRPr/>
          </a:p>
        </p:txBody>
      </p:sp>
      <p:pic>
        <p:nvPicPr>
          <p:cNvPr id="341" name="Google Shape;341;p20"/>
          <p:cNvPicPr preferRelativeResize="0"/>
          <p:nvPr>
            <p:ph idx="1" type="body"/>
          </p:nvPr>
        </p:nvPicPr>
        <p:blipFill rotWithShape="1">
          <a:blip r:embed="rId3">
            <a:alphaModFix/>
          </a:blip>
          <a:srcRect b="0" l="0" r="0" t="0"/>
          <a:stretch/>
        </p:blipFill>
        <p:spPr>
          <a:xfrm>
            <a:off x="457200" y="2031277"/>
            <a:ext cx="8229600" cy="3663808"/>
          </a:xfrm>
          <a:prstGeom prst="rect">
            <a:avLst/>
          </a:prstGeom>
          <a:noFill/>
          <a:ln>
            <a:noFill/>
          </a:ln>
        </p:spPr>
      </p:pic>
      <p:sp>
        <p:nvSpPr>
          <p:cNvPr id="342" name="Google Shape;34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Uninformed Search</a:t>
            </a:r>
            <a:endParaRPr/>
          </a:p>
        </p:txBody>
      </p:sp>
      <p:sp>
        <p:nvSpPr>
          <p:cNvPr id="348" name="Google Shape;348;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Uninformed search, also called blind search, is an algorithm that explores a problem space without prior knowledge, focusing solely on the initial state and possible actions.</a:t>
            </a:r>
            <a:endParaRPr/>
          </a:p>
        </p:txBody>
      </p:sp>
      <p:sp>
        <p:nvSpPr>
          <p:cNvPr id="349" name="Google Shape;34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pic>
        <p:nvPicPr>
          <p:cNvPr id="354" name="Google Shape;354;p22"/>
          <p:cNvPicPr preferRelativeResize="0"/>
          <p:nvPr>
            <p:ph idx="1" type="body"/>
          </p:nvPr>
        </p:nvPicPr>
        <p:blipFill rotWithShape="1">
          <a:blip r:embed="rId3">
            <a:alphaModFix/>
          </a:blip>
          <a:srcRect b="0" l="0" r="0" t="0"/>
          <a:stretch/>
        </p:blipFill>
        <p:spPr>
          <a:xfrm>
            <a:off x="1691674" y="1166027"/>
            <a:ext cx="5717400" cy="4173600"/>
          </a:xfrm>
          <a:prstGeom prst="rect">
            <a:avLst/>
          </a:prstGeom>
          <a:noFill/>
          <a:ln>
            <a:noFill/>
          </a:ln>
        </p:spPr>
      </p:pic>
      <p:sp>
        <p:nvSpPr>
          <p:cNvPr id="355" name="Google Shape;355;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Breadth First Search</a:t>
            </a:r>
            <a:endParaRPr/>
          </a:p>
        </p:txBody>
      </p:sp>
      <p:sp>
        <p:nvSpPr>
          <p:cNvPr id="361" name="Google Shape;361;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Breadth First Search ( BFS ) is used to explore all the neighbouring states or nodes of the initial node, thus guaranteeing the shortest path between nodes in a tree-like data structure. </a:t>
            </a:r>
            <a:endParaRPr/>
          </a:p>
          <a:p>
            <a:pPr indent="-342900" lvl="0" marL="342900" rtl="0" algn="l">
              <a:spcBef>
                <a:spcPts val="640"/>
              </a:spcBef>
              <a:spcAft>
                <a:spcPts val="0"/>
              </a:spcAft>
              <a:buClr>
                <a:schemeClr val="dk1"/>
              </a:buClr>
              <a:buSzPts val="3200"/>
              <a:buChar char="•"/>
            </a:pPr>
            <a:r>
              <a:rPr lang="en-US"/>
              <a:t>It is used to reach the goal state using the shortest path between the initial and goal state. </a:t>
            </a:r>
            <a:endParaRPr/>
          </a:p>
        </p:txBody>
      </p:sp>
      <p:sp>
        <p:nvSpPr>
          <p:cNvPr id="362" name="Google Shape;362;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4"/>
          <p:cNvSpPr txBox="1"/>
          <p:nvPr>
            <p:ph idx="1" type="body"/>
          </p:nvPr>
        </p:nvSpPr>
        <p:spPr>
          <a:xfrm>
            <a:off x="457200" y="1340768"/>
            <a:ext cx="8229600" cy="4752528"/>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lang="en-US"/>
              <a:t>The Queue data structure is used in BFS. The initial node is first pushed into the Queue, and then after visiting the front node, all the neighboring nodes are pushed into the Queue. </a:t>
            </a:r>
            <a:endParaRPr/>
          </a:p>
          <a:p>
            <a:pPr indent="-342900" lvl="0" marL="342900" rtl="0" algn="l">
              <a:spcBef>
                <a:spcPts val="640"/>
              </a:spcBef>
              <a:spcAft>
                <a:spcPts val="0"/>
              </a:spcAft>
              <a:buClr>
                <a:schemeClr val="dk1"/>
              </a:buClr>
              <a:buSzPts val="3200"/>
              <a:buChar char="•"/>
            </a:pPr>
            <a:r>
              <a:rPr lang="en-US"/>
              <a:t>Thus, it ensures that the goal state is reached using the shortest path by exploring all the neighbors at once.</a:t>
            </a:r>
            <a:endParaRPr/>
          </a:p>
          <a:p>
            <a:pPr indent="0" lvl="0" marL="0" rtl="0" algn="l">
              <a:spcBef>
                <a:spcPts val="640"/>
              </a:spcBef>
              <a:spcAft>
                <a:spcPts val="0"/>
              </a:spcAft>
              <a:buClr>
                <a:schemeClr val="dk1"/>
              </a:buClr>
              <a:buSzPts val="3200"/>
              <a:buNone/>
            </a:pPr>
            <a:r>
              <a:t/>
            </a:r>
            <a:endParaRPr/>
          </a:p>
          <a:p>
            <a:pPr indent="0" lvl="0" marL="0" rtl="0" algn="l">
              <a:spcBef>
                <a:spcPts val="240"/>
              </a:spcBef>
              <a:spcAft>
                <a:spcPts val="0"/>
              </a:spcAft>
              <a:buClr>
                <a:schemeClr val="dk1"/>
              </a:buClr>
              <a:buSzPts val="1200"/>
              <a:buNone/>
            </a:pPr>
            <a:r>
              <a:rPr lang="en-US" sz="1200"/>
              <a:t>Solve the examples for the same</a:t>
            </a:r>
            <a:endParaRPr sz="1200"/>
          </a:p>
        </p:txBody>
      </p:sp>
      <p:sp>
        <p:nvSpPr>
          <p:cNvPr id="368" name="Google Shape;368;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Depth First Search</a:t>
            </a:r>
            <a:endParaRPr/>
          </a:p>
        </p:txBody>
      </p:sp>
      <p:sp>
        <p:nvSpPr>
          <p:cNvPr id="374" name="Google Shape;374;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Depth First Search ( DFS ) is used to find the solutions by exploring all the nodes till the end of a branch is reached and then backtracking and exploring other branches in the same way. </a:t>
            </a:r>
            <a:endParaRPr/>
          </a:p>
          <a:p>
            <a:pPr indent="-342900" lvl="0" marL="342900" rtl="0" algn="l">
              <a:spcBef>
                <a:spcPts val="640"/>
              </a:spcBef>
              <a:spcAft>
                <a:spcPts val="0"/>
              </a:spcAft>
              <a:buClr>
                <a:schemeClr val="dk1"/>
              </a:buClr>
              <a:buSzPts val="3200"/>
              <a:buChar char="•"/>
            </a:pPr>
            <a:r>
              <a:rPr lang="en-US"/>
              <a:t>It is a recursive algorithm. DFS searches along each branch by going into the deep. </a:t>
            </a:r>
            <a:endParaRPr/>
          </a:p>
        </p:txBody>
      </p:sp>
      <p:sp>
        <p:nvSpPr>
          <p:cNvPr id="375" name="Google Shape;375;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6"/>
          <p:cNvSpPr txBox="1"/>
          <p:nvPr>
            <p:ph idx="1" type="body"/>
          </p:nvPr>
        </p:nvSpPr>
        <p:spPr>
          <a:xfrm>
            <a:off x="457200" y="908720"/>
            <a:ext cx="8229600" cy="521744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The Stack data structure is used in DFS in a similar way queue was used in BFS. First, the initial state is pushed into the stack, and then the top element is popped out, and its neighbors are pushed into the stack. </a:t>
            </a:r>
            <a:endParaRPr/>
          </a:p>
          <a:p>
            <a:pPr indent="-342900" lvl="0" marL="342900" rtl="0" algn="l">
              <a:spcBef>
                <a:spcPts val="640"/>
              </a:spcBef>
              <a:spcAft>
                <a:spcPts val="0"/>
              </a:spcAft>
              <a:buClr>
                <a:schemeClr val="dk1"/>
              </a:buClr>
              <a:buSzPts val="3200"/>
              <a:buChar char="•"/>
            </a:pPr>
            <a:r>
              <a:rPr lang="en-US"/>
              <a:t>In this way, it makes sure to traverse along each branch separately. </a:t>
            </a:r>
            <a:endParaRPr/>
          </a:p>
        </p:txBody>
      </p:sp>
      <p:sp>
        <p:nvSpPr>
          <p:cNvPr id="381" name="Google Shape;381;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Informed Search</a:t>
            </a:r>
            <a:endParaRPr/>
          </a:p>
        </p:txBody>
      </p:sp>
      <p:sp>
        <p:nvSpPr>
          <p:cNvPr id="387" name="Google Shape;387;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It uses domain knowledge in the form of heuristics to make smarter decisions during the search process. </a:t>
            </a:r>
            <a:endParaRPr/>
          </a:p>
          <a:p>
            <a:pPr indent="-342900" lvl="0" marL="342900" rtl="0" algn="l">
              <a:spcBef>
                <a:spcPts val="640"/>
              </a:spcBef>
              <a:spcAft>
                <a:spcPts val="0"/>
              </a:spcAft>
              <a:buClr>
                <a:schemeClr val="dk1"/>
              </a:buClr>
              <a:buSzPts val="3200"/>
              <a:buChar char="•"/>
            </a:pPr>
            <a:r>
              <a:rPr lang="en-US"/>
              <a:t>These heuristics estimate how close a state is to the goal guiding the search more efficiently.</a:t>
            </a:r>
            <a:endParaRPr/>
          </a:p>
          <a:p>
            <a:pPr indent="-254000" lvl="0" marL="342900" rtl="0" algn="l">
              <a:spcBef>
                <a:spcPts val="640"/>
              </a:spcBef>
              <a:spcAft>
                <a:spcPts val="0"/>
              </a:spcAft>
              <a:buSzPts val="1800"/>
              <a:buChar char="•"/>
            </a:pPr>
            <a:r>
              <a:rPr lang="en-US"/>
              <a:t>This search maintains some sort of internal states via heuristic functions (which provides hints), so it is also called heuristic search.</a:t>
            </a:r>
            <a:endParaRPr/>
          </a:p>
        </p:txBody>
      </p:sp>
      <p:sp>
        <p:nvSpPr>
          <p:cNvPr id="388" name="Google Shape;388;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id="393" name="Google Shape;393;p31"/>
          <p:cNvPicPr preferRelativeResize="0"/>
          <p:nvPr>
            <p:ph idx="1" type="body"/>
          </p:nvPr>
        </p:nvPicPr>
        <p:blipFill rotWithShape="1">
          <a:blip r:embed="rId3">
            <a:alphaModFix/>
          </a:blip>
          <a:srcRect b="0" l="0" r="0" t="0"/>
          <a:stretch/>
        </p:blipFill>
        <p:spPr>
          <a:xfrm>
            <a:off x="457200" y="1340768"/>
            <a:ext cx="8229600" cy="3484605"/>
          </a:xfrm>
          <a:prstGeom prst="rect">
            <a:avLst/>
          </a:prstGeom>
          <a:noFill/>
          <a:ln>
            <a:noFill/>
          </a:ln>
        </p:spPr>
      </p:pic>
      <p:sp>
        <p:nvSpPr>
          <p:cNvPr id="394" name="Google Shape;39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g3bc116d102d_0_14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What is the role of knowledge </a:t>
            </a:r>
            <a:endParaRPr/>
          </a:p>
        </p:txBody>
      </p:sp>
      <p:sp>
        <p:nvSpPr>
          <p:cNvPr id="401" name="Google Shape;401;g3bc116d102d_0_14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a:t>Though one could have unlimited computing power, the size of the knowledge base available for solving the problem does matter in arriving at a good solution. </a:t>
            </a:r>
            <a:endParaRPr/>
          </a:p>
          <a:p>
            <a:pPr indent="0" lvl="0" marL="0" rtl="0" algn="l">
              <a:spcBef>
                <a:spcPts val="360"/>
              </a:spcBef>
              <a:spcAft>
                <a:spcPts val="0"/>
              </a:spcAft>
              <a:buNone/>
            </a:pPr>
            <a:r>
              <a:rPr lang="en-US"/>
              <a:t>Take for example the game of playing chess, just the rules for determining legal moves and some simple control mechanism is sufficient to arrive at a solution. </a:t>
            </a:r>
            <a:endParaRPr/>
          </a:p>
        </p:txBody>
      </p:sp>
      <p:sp>
        <p:nvSpPr>
          <p:cNvPr id="402" name="Google Shape;402;g3bc116d102d_0_14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3bc116d102d_0_149"/>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a:t>But additional knowledge about good strategy and tactics could help to constrain the search and speed up the execution of the program. The solution would then be realistic.</a:t>
            </a:r>
            <a:endParaRPr/>
          </a:p>
        </p:txBody>
      </p:sp>
      <p:sp>
        <p:nvSpPr>
          <p:cNvPr id="409" name="Google Shape;409;g3bc116d102d_0_14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g3bc116d102d_0_15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Heuristics Search</a:t>
            </a:r>
            <a:endParaRPr/>
          </a:p>
        </p:txBody>
      </p:sp>
      <p:sp>
        <p:nvSpPr>
          <p:cNvPr id="416" name="Google Shape;416;g3bc116d102d_0_15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a:t>A Heuristic is a technique to solve a problem faster than classic methods, or to find an approximate solution when classic methods cannot. </a:t>
            </a:r>
            <a:endParaRPr/>
          </a:p>
          <a:p>
            <a:pPr indent="0" lvl="0" marL="0" rtl="0" algn="l">
              <a:spcBef>
                <a:spcPts val="360"/>
              </a:spcBef>
              <a:spcAft>
                <a:spcPts val="0"/>
              </a:spcAft>
              <a:buNone/>
            </a:pPr>
            <a:r>
              <a:rPr lang="en-US"/>
              <a:t>This is a kind of a shortcut as we often trade one of optimality, completeness, accuracy, or precision for speed. </a:t>
            </a:r>
            <a:endParaRPr/>
          </a:p>
        </p:txBody>
      </p:sp>
      <p:sp>
        <p:nvSpPr>
          <p:cNvPr id="417" name="Google Shape;417;g3bc116d102d_0_15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g3bc116d102d_0_165"/>
          <p:cNvSpPr txBox="1"/>
          <p:nvPr>
            <p:ph idx="1" type="body"/>
          </p:nvPr>
        </p:nvSpPr>
        <p:spPr>
          <a:xfrm>
            <a:off x="457200" y="689975"/>
            <a:ext cx="8229600" cy="54363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a:t>A Heuristic (or a heuristic function) takes a look at search algorithms. </a:t>
            </a:r>
            <a:endParaRPr/>
          </a:p>
          <a:p>
            <a:pPr indent="-342900" lvl="0" marL="457200" rtl="0" algn="l">
              <a:spcBef>
                <a:spcPts val="0"/>
              </a:spcBef>
              <a:spcAft>
                <a:spcPts val="0"/>
              </a:spcAft>
              <a:buSzPts val="1800"/>
              <a:buChar char="•"/>
            </a:pPr>
            <a:r>
              <a:rPr lang="en-US"/>
              <a:t>At each branching step, it evaluates the available information and makes a decision on which branch to follow. </a:t>
            </a:r>
            <a:endParaRPr/>
          </a:p>
          <a:p>
            <a:pPr indent="-342900" lvl="0" marL="457200" rtl="0" algn="l">
              <a:spcBef>
                <a:spcPts val="0"/>
              </a:spcBef>
              <a:spcAft>
                <a:spcPts val="0"/>
              </a:spcAft>
              <a:buSzPts val="1800"/>
              <a:buChar char="•"/>
            </a:pPr>
            <a:r>
              <a:rPr lang="en-US"/>
              <a:t>It does so by ranking alternatives. The Heuristic is any device that is often effective but will not guarantee work in every case.</a:t>
            </a:r>
            <a:endParaRPr/>
          </a:p>
        </p:txBody>
      </p:sp>
      <p:sp>
        <p:nvSpPr>
          <p:cNvPr id="424" name="Google Shape;424;g3bc116d102d_0_16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g3bc116d102d_0_173"/>
          <p:cNvSpPr txBox="1"/>
          <p:nvPr>
            <p:ph idx="1" type="body"/>
          </p:nvPr>
        </p:nvSpPr>
        <p:spPr>
          <a:xfrm>
            <a:off x="457200" y="439075"/>
            <a:ext cx="8686800" cy="56871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a:t>So why do we need heuristics? One reason is to produce, in a reasonable amount of time, a solution that is good enough for the problem in question. </a:t>
            </a:r>
            <a:endParaRPr/>
          </a:p>
          <a:p>
            <a:pPr indent="-342900" lvl="0" marL="457200" rtl="0" algn="l">
              <a:spcBef>
                <a:spcPts val="0"/>
              </a:spcBef>
              <a:spcAft>
                <a:spcPts val="0"/>
              </a:spcAft>
              <a:buSzPts val="1800"/>
              <a:buChar char="•"/>
            </a:pPr>
            <a:r>
              <a:rPr lang="en-US"/>
              <a:t>It doesn’t have to be the best an approximate solution will do since this is fast enough. Most problems are exponential. </a:t>
            </a:r>
            <a:endParaRPr/>
          </a:p>
          <a:p>
            <a:pPr indent="-342900" lvl="0" marL="457200" rtl="0" algn="l">
              <a:spcBef>
                <a:spcPts val="0"/>
              </a:spcBef>
              <a:spcAft>
                <a:spcPts val="0"/>
              </a:spcAft>
              <a:buSzPts val="1800"/>
              <a:buChar char="•"/>
            </a:pPr>
            <a:r>
              <a:rPr lang="en-US"/>
              <a:t>Heuristic Search let us reduce this to a rather polynomial number. </a:t>
            </a:r>
            <a:endParaRPr/>
          </a:p>
          <a:p>
            <a:pPr indent="-342900" lvl="0" marL="457200" rtl="0" algn="l">
              <a:spcBef>
                <a:spcPts val="0"/>
              </a:spcBef>
              <a:spcAft>
                <a:spcPts val="0"/>
              </a:spcAft>
              <a:buSzPts val="1800"/>
              <a:buChar char="•"/>
            </a:pPr>
            <a:r>
              <a:rPr lang="en-US"/>
              <a:t>We use this in AI because we can put it to use in situations where we can’t find known algorithm.</a:t>
            </a:r>
            <a:endParaRPr/>
          </a:p>
        </p:txBody>
      </p:sp>
      <p:sp>
        <p:nvSpPr>
          <p:cNvPr id="431" name="Google Shape;431;g3bc116d102d_0_17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Best first Search (Greedy search)</a:t>
            </a:r>
            <a:endParaRPr/>
          </a:p>
        </p:txBody>
      </p:sp>
      <p:sp>
        <p:nvSpPr>
          <p:cNvPr id="437" name="Google Shape;437;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a:bodyPr>
          <a:lstStyle/>
          <a:p>
            <a:pPr indent="-342900" lvl="0" marL="342900" rtl="0" algn="l">
              <a:spcBef>
                <a:spcPts val="0"/>
              </a:spcBef>
              <a:spcAft>
                <a:spcPts val="0"/>
              </a:spcAft>
              <a:buClr>
                <a:schemeClr val="dk1"/>
              </a:buClr>
              <a:buSzPct val="100000"/>
              <a:buChar char="•"/>
            </a:pPr>
            <a:r>
              <a:rPr lang="en-US" sz="5800"/>
              <a:t>Greedy search is a heuristic based algorithm that selects the path which appears to lead most directly toward the goal.</a:t>
            </a:r>
            <a:endParaRPr/>
          </a:p>
          <a:p>
            <a:pPr indent="-342900" lvl="0" marL="342900" rtl="0" algn="l">
              <a:spcBef>
                <a:spcPts val="551"/>
              </a:spcBef>
              <a:spcAft>
                <a:spcPts val="0"/>
              </a:spcAft>
              <a:buClr>
                <a:schemeClr val="dk1"/>
              </a:buClr>
              <a:buSzPct val="100000"/>
              <a:buChar char="•"/>
            </a:pPr>
            <a:r>
              <a:rPr lang="en-US" sz="5800"/>
              <a:t>It makes decisions based solely on the estimated cost from the current node to the goal (h(n)) ignoring the cost already taken to reach the current node (g(n)).</a:t>
            </a:r>
            <a:endParaRPr/>
          </a:p>
          <a:p>
            <a:pPr indent="-342900" lvl="0" marL="342900" rtl="0" algn="l">
              <a:spcBef>
                <a:spcPts val="551"/>
              </a:spcBef>
              <a:spcAft>
                <a:spcPts val="0"/>
              </a:spcAft>
              <a:buClr>
                <a:schemeClr val="dk1"/>
              </a:buClr>
              <a:buSzPct val="100000"/>
              <a:buChar char="•"/>
            </a:pPr>
            <a:r>
              <a:rPr lang="en-US" sz="5800"/>
              <a:t>This approach makes greedy search fast and memory efficient as it focuses only on immediate gains.</a:t>
            </a:r>
            <a:endParaRPr/>
          </a:p>
          <a:p>
            <a:pPr indent="-246380" lvl="0" marL="342900" rtl="0" algn="l">
              <a:spcBef>
                <a:spcPts val="304"/>
              </a:spcBef>
              <a:spcAft>
                <a:spcPts val="0"/>
              </a:spcAft>
              <a:buClr>
                <a:schemeClr val="dk1"/>
              </a:buClr>
              <a:buSzPct val="100000"/>
              <a:buNone/>
            </a:pPr>
            <a:r>
              <a:t/>
            </a:r>
            <a:endParaRPr/>
          </a:p>
          <a:p>
            <a:pPr indent="0" lvl="0" marL="0" rtl="0" algn="l">
              <a:spcBef>
                <a:spcPts val="218"/>
              </a:spcBef>
              <a:spcAft>
                <a:spcPts val="0"/>
              </a:spcAft>
              <a:buClr>
                <a:schemeClr val="dk1"/>
              </a:buClr>
              <a:buSzPct val="71875"/>
              <a:buNone/>
            </a:pPr>
            <a:r>
              <a:t/>
            </a:r>
            <a:endParaRPr/>
          </a:p>
        </p:txBody>
      </p:sp>
      <p:sp>
        <p:nvSpPr>
          <p:cNvPr id="438" name="Google Shape;438;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A* Tree</a:t>
            </a:r>
            <a:endParaRPr/>
          </a:p>
        </p:txBody>
      </p:sp>
      <p:sp>
        <p:nvSpPr>
          <p:cNvPr id="444" name="Google Shape;444;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0"/>
              </a:spcAft>
              <a:buClr>
                <a:schemeClr val="dk1"/>
              </a:buClr>
              <a:buSzPts val="1100"/>
              <a:buFont typeface="Arial"/>
              <a:buNone/>
            </a:pPr>
            <a:r>
              <a:rPr lang="en-US" sz="2700"/>
              <a:t>The A* Search Algorithm is an optimal and efficient method for solving pathfinding problems. When seeking the shortest path between a starting point and a goal, A* is often the best choice due to its versatility and robustness.</a:t>
            </a:r>
            <a:endParaRPr sz="2700"/>
          </a:p>
          <a:p>
            <a:pPr indent="0" lvl="0" marL="0" rtl="0" algn="just">
              <a:lnSpc>
                <a:spcPct val="115000"/>
              </a:lnSpc>
              <a:spcBef>
                <a:spcPts val="1200"/>
              </a:spcBef>
              <a:spcAft>
                <a:spcPts val="0"/>
              </a:spcAft>
              <a:buClr>
                <a:schemeClr val="dk1"/>
              </a:buClr>
              <a:buSzPts val="1100"/>
              <a:buFont typeface="Arial"/>
              <a:buNone/>
            </a:pPr>
            <a:r>
              <a:rPr lang="en-US" sz="2700"/>
              <a:t>Widely used in robotics, video games, and navigation systems, A* is one of the most important algorithms in graph traversal.</a:t>
            </a:r>
            <a:endParaRPr sz="2700"/>
          </a:p>
          <a:p>
            <a:pPr indent="0" lvl="0" marL="0" rtl="0" algn="just">
              <a:lnSpc>
                <a:spcPct val="115000"/>
              </a:lnSpc>
              <a:spcBef>
                <a:spcPts val="1200"/>
              </a:spcBef>
              <a:spcAft>
                <a:spcPts val="0"/>
              </a:spcAft>
              <a:buClr>
                <a:schemeClr val="dk1"/>
              </a:buClr>
              <a:buSzPts val="1100"/>
              <a:buFont typeface="Arial"/>
              <a:buNone/>
            </a:pPr>
            <a:r>
              <a:rPr lang="en-US" sz="2700"/>
              <a:t>Pathfinding involves finding a viable route between two points in a given space while adhering to a set of rules. </a:t>
            </a:r>
            <a:endParaRPr sz="2700"/>
          </a:p>
        </p:txBody>
      </p:sp>
      <p:sp>
        <p:nvSpPr>
          <p:cNvPr id="445" name="Google Shape;445;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3c2b18bd659_2_1"/>
          <p:cNvSpPr txBox="1"/>
          <p:nvPr>
            <p:ph idx="1" type="body"/>
          </p:nvPr>
        </p:nvSpPr>
        <p:spPr>
          <a:xfrm>
            <a:off x="276725" y="438225"/>
            <a:ext cx="8410200" cy="5688000"/>
          </a:xfrm>
          <a:prstGeom prst="rect">
            <a:avLst/>
          </a:prstGeom>
        </p:spPr>
        <p:txBody>
          <a:bodyPr anchorCtr="0" anchor="t" bIns="45700" lIns="91425" spcFirstLastPara="1" rIns="91425" wrap="square" tIns="45700">
            <a:noAutofit/>
          </a:bodyPr>
          <a:lstStyle/>
          <a:p>
            <a:pPr indent="0" lvl="0" marL="0" rtl="0" algn="just">
              <a:lnSpc>
                <a:spcPct val="115000"/>
              </a:lnSpc>
              <a:spcBef>
                <a:spcPts val="1200"/>
              </a:spcBef>
              <a:spcAft>
                <a:spcPts val="0"/>
              </a:spcAft>
              <a:buNone/>
            </a:pPr>
            <a:r>
              <a:rPr lang="en-US" sz="2700"/>
              <a:t>The A* algorithm is known for identifying the most efficient path from one point to another. It combines the strengths of two powerful algorithms: Dijkstra’s algorithm and Greedy Breadth-First Search.</a:t>
            </a:r>
            <a:endParaRPr sz="2700"/>
          </a:p>
          <a:p>
            <a:pPr indent="0" lvl="0" marL="0" rtl="0" algn="just">
              <a:lnSpc>
                <a:spcPct val="115000"/>
              </a:lnSpc>
              <a:spcBef>
                <a:spcPts val="1200"/>
              </a:spcBef>
              <a:spcAft>
                <a:spcPts val="0"/>
              </a:spcAft>
              <a:buNone/>
            </a:pPr>
            <a:r>
              <a:rPr lang="en-US" sz="2700"/>
              <a:t>In a*, the space is represented as a graph, where nodes represent positions or states and edges represent transitions between states. Edges are associated with costs or a given set of rules. The algorithm moves from the first node to the goal in consideration of the least-cost path.</a:t>
            </a:r>
            <a:endParaRPr sz="2700"/>
          </a:p>
          <a:p>
            <a:pPr indent="0" lvl="0" marL="0" rtl="0" algn="just">
              <a:lnSpc>
                <a:spcPct val="115000"/>
              </a:lnSpc>
              <a:spcBef>
                <a:spcPts val="1200"/>
              </a:spcBef>
              <a:spcAft>
                <a:spcPts val="0"/>
              </a:spcAft>
              <a:buClr>
                <a:schemeClr val="dk1"/>
              </a:buClr>
              <a:buSzPts val="1100"/>
              <a:buFont typeface="Arial"/>
              <a:buNone/>
            </a:pPr>
            <a:r>
              <a:rPr lang="en-US" sz="2700"/>
              <a:t>A* Search Algorithm formula calculates the cost of reaching a particular node.  </a:t>
            </a:r>
            <a:endParaRPr sz="2700"/>
          </a:p>
          <a:p>
            <a:pPr indent="0" lvl="0" marL="0" rtl="0" algn="l">
              <a:spcBef>
                <a:spcPts val="360"/>
              </a:spcBef>
              <a:spcAft>
                <a:spcPts val="0"/>
              </a:spcAft>
              <a:buNone/>
            </a:pPr>
            <a:r>
              <a:t/>
            </a:r>
            <a:endParaRPr sz="2700"/>
          </a:p>
        </p:txBody>
      </p:sp>
      <p:sp>
        <p:nvSpPr>
          <p:cNvPr id="452" name="Google Shape;452;g3c2b18bd659_2_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3c2b18bd659_2_9"/>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just">
              <a:lnSpc>
                <a:spcPct val="115000"/>
              </a:lnSpc>
              <a:spcBef>
                <a:spcPts val="1200"/>
              </a:spcBef>
              <a:spcAft>
                <a:spcPts val="0"/>
              </a:spcAft>
              <a:buNone/>
            </a:pPr>
            <a:r>
              <a:rPr lang="en-US" sz="2700"/>
              <a:t>The total cost of traversal is calculated as:</a:t>
            </a:r>
            <a:endParaRPr/>
          </a:p>
        </p:txBody>
      </p:sp>
      <p:sp>
        <p:nvSpPr>
          <p:cNvPr id="459" name="Google Shape;459;g3c2b18bd659_2_9"/>
          <p:cNvSpPr txBox="1"/>
          <p:nvPr>
            <p:ph idx="1" type="body"/>
          </p:nvPr>
        </p:nvSpPr>
        <p:spPr>
          <a:xfrm>
            <a:off x="457200" y="1165950"/>
            <a:ext cx="8229600" cy="4526100"/>
          </a:xfrm>
          <a:prstGeom prst="rect">
            <a:avLst/>
          </a:prstGeom>
        </p:spPr>
        <p:txBody>
          <a:bodyPr anchorCtr="0" anchor="t" bIns="45700" lIns="91425" spcFirstLastPara="1" rIns="91425" wrap="square" tIns="45700">
            <a:noAutofit/>
          </a:bodyPr>
          <a:lstStyle/>
          <a:p>
            <a:pPr indent="0" lvl="0" marL="0" rtl="0" algn="ctr">
              <a:lnSpc>
                <a:spcPct val="115000"/>
              </a:lnSpc>
              <a:spcBef>
                <a:spcPts val="1200"/>
              </a:spcBef>
              <a:spcAft>
                <a:spcPts val="0"/>
              </a:spcAft>
              <a:buClr>
                <a:schemeClr val="dk1"/>
              </a:buClr>
              <a:buSzPts val="1100"/>
              <a:buFont typeface="Arial"/>
              <a:buNone/>
            </a:pPr>
            <a:r>
              <a:rPr lang="en-US" sz="2700"/>
              <a:t>f(n)=g(n)+h(n)</a:t>
            </a:r>
            <a:endParaRPr sz="2700"/>
          </a:p>
          <a:p>
            <a:pPr indent="0" lvl="0" marL="0" rtl="0" algn="just">
              <a:lnSpc>
                <a:spcPct val="115000"/>
              </a:lnSpc>
              <a:spcBef>
                <a:spcPts val="1200"/>
              </a:spcBef>
              <a:spcAft>
                <a:spcPts val="0"/>
              </a:spcAft>
              <a:buClr>
                <a:schemeClr val="dk1"/>
              </a:buClr>
              <a:buSzPts val="1100"/>
              <a:buFont typeface="Arial"/>
              <a:buNone/>
            </a:pPr>
            <a:r>
              <a:rPr lang="en-US" sz="2700"/>
              <a:t>Where:</a:t>
            </a:r>
            <a:endParaRPr sz="2700"/>
          </a:p>
          <a:p>
            <a:pPr indent="0" lvl="0" marL="0" rtl="0" algn="just">
              <a:lnSpc>
                <a:spcPct val="115000"/>
              </a:lnSpc>
              <a:spcBef>
                <a:spcPts val="1200"/>
              </a:spcBef>
              <a:spcAft>
                <a:spcPts val="0"/>
              </a:spcAft>
              <a:buClr>
                <a:schemeClr val="dk1"/>
              </a:buClr>
              <a:buSzPts val="1100"/>
              <a:buFont typeface="Arial"/>
              <a:buNone/>
            </a:pPr>
            <a:r>
              <a:rPr lang="en-US" sz="2700"/>
              <a:t>f(n) is the estimated total cost from the start node to the end goal via node n.</a:t>
            </a:r>
            <a:endParaRPr sz="2700"/>
          </a:p>
          <a:p>
            <a:pPr indent="0" lvl="0" marL="0" rtl="0" algn="just">
              <a:lnSpc>
                <a:spcPct val="115000"/>
              </a:lnSpc>
              <a:spcBef>
                <a:spcPts val="1200"/>
              </a:spcBef>
              <a:spcAft>
                <a:spcPts val="0"/>
              </a:spcAft>
              <a:buClr>
                <a:schemeClr val="dk1"/>
              </a:buClr>
              <a:buSzPts val="1100"/>
              <a:buFont typeface="Arial"/>
              <a:buNone/>
            </a:pPr>
            <a:r>
              <a:rPr lang="en-US" sz="2700"/>
              <a:t>g(n) is the actual cost from the start node to node n.</a:t>
            </a:r>
            <a:endParaRPr sz="2700"/>
          </a:p>
          <a:p>
            <a:pPr indent="0" lvl="0" marL="0" rtl="0" algn="just">
              <a:lnSpc>
                <a:spcPct val="115000"/>
              </a:lnSpc>
              <a:spcBef>
                <a:spcPts val="1200"/>
              </a:spcBef>
              <a:spcAft>
                <a:spcPts val="0"/>
              </a:spcAft>
              <a:buClr>
                <a:schemeClr val="dk1"/>
              </a:buClr>
              <a:buSzPts val="1100"/>
              <a:buFont typeface="Arial"/>
              <a:buNone/>
            </a:pPr>
            <a:r>
              <a:rPr lang="en-US" sz="2700"/>
              <a:t>h(n) is the heuristic cost (estimated cost) from node n to end node.</a:t>
            </a:r>
            <a:endParaRPr sz="2700"/>
          </a:p>
          <a:p>
            <a:pPr indent="0" lvl="0" marL="0" rtl="0" algn="just">
              <a:lnSpc>
                <a:spcPct val="115000"/>
              </a:lnSpc>
              <a:spcBef>
                <a:spcPts val="1200"/>
              </a:spcBef>
              <a:spcAft>
                <a:spcPts val="0"/>
              </a:spcAft>
              <a:buClr>
                <a:schemeClr val="dk1"/>
              </a:buClr>
              <a:buSzPts val="1100"/>
              <a:buFont typeface="Arial"/>
              <a:buNone/>
            </a:pPr>
            <a:r>
              <a:rPr lang="en-US" sz="2700"/>
              <a:t>This heuristic cost or the guess of the remaining cost to the end goal is this algorithm's additional function, making it optimal amongst all pathfinding algorithms.</a:t>
            </a:r>
            <a:endParaRPr sz="2700"/>
          </a:p>
          <a:p>
            <a:pPr indent="0" lvl="0" marL="0" rtl="0" algn="l">
              <a:spcBef>
                <a:spcPts val="360"/>
              </a:spcBef>
              <a:spcAft>
                <a:spcPts val="0"/>
              </a:spcAft>
              <a:buNone/>
            </a:pPr>
            <a:r>
              <a:t/>
            </a:r>
            <a:endParaRPr sz="2700"/>
          </a:p>
        </p:txBody>
      </p:sp>
      <p:sp>
        <p:nvSpPr>
          <p:cNvPr id="460" name="Google Shape;460;g3c2b18bd659_2_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3c2b18bd659_2_17"/>
          <p:cNvSpPr txBox="1"/>
          <p:nvPr>
            <p:ph type="title"/>
          </p:nvPr>
        </p:nvSpPr>
        <p:spPr>
          <a:xfrm>
            <a:off x="457200" y="274638"/>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US"/>
              <a:t>Implementation of this A* algorithm </a:t>
            </a:r>
            <a:endParaRPr/>
          </a:p>
        </p:txBody>
      </p:sp>
      <p:sp>
        <p:nvSpPr>
          <p:cNvPr id="467" name="Google Shape;467;g3c2b18bd659_2_1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228600" lvl="0" marL="0" rtl="0" algn="just">
              <a:lnSpc>
                <a:spcPct val="115000"/>
              </a:lnSpc>
              <a:spcBef>
                <a:spcPts val="1200"/>
              </a:spcBef>
              <a:spcAft>
                <a:spcPts val="0"/>
              </a:spcAft>
              <a:buClr>
                <a:schemeClr val="dk1"/>
              </a:buClr>
              <a:buSzPts val="1100"/>
              <a:buFont typeface="Arial"/>
              <a:buNone/>
            </a:pPr>
            <a:r>
              <a:rPr lang="en-US" sz="2700"/>
              <a:t>1.  Initialization: The algorithm starts by placing the starting node in a priority queue. This priority queue, also known as an open list, contains all the nodes that have yet to be evaluated.</a:t>
            </a:r>
            <a:endParaRPr sz="2700"/>
          </a:p>
          <a:p>
            <a:pPr indent="-228600" lvl="0" marL="0" rtl="0" algn="just">
              <a:lnSpc>
                <a:spcPct val="115000"/>
              </a:lnSpc>
              <a:spcBef>
                <a:spcPts val="1200"/>
              </a:spcBef>
              <a:spcAft>
                <a:spcPts val="0"/>
              </a:spcAft>
              <a:buClr>
                <a:schemeClr val="dk1"/>
              </a:buClr>
              <a:buSzPts val="1100"/>
              <a:buFont typeface="Arial"/>
              <a:buNone/>
            </a:pPr>
            <a:r>
              <a:rPr lang="en-US" sz="2700"/>
              <a:t>2. Evaluation: This is the selection process in which the node with the lowest f(n) value from the queue is chosen for further operations.</a:t>
            </a:r>
            <a:endParaRPr sz="2700"/>
          </a:p>
          <a:p>
            <a:pPr indent="0" lvl="0" marL="0" rtl="0" algn="l">
              <a:spcBef>
                <a:spcPts val="360"/>
              </a:spcBef>
              <a:spcAft>
                <a:spcPts val="0"/>
              </a:spcAft>
              <a:buNone/>
            </a:pPr>
            <a:r>
              <a:t/>
            </a:r>
            <a:endParaRPr sz="2700"/>
          </a:p>
        </p:txBody>
      </p:sp>
      <p:sp>
        <p:nvSpPr>
          <p:cNvPr id="468" name="Google Shape;468;g3c2b18bd659_2_1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g3c2b18bd659_2_26"/>
          <p:cNvSpPr txBox="1"/>
          <p:nvPr>
            <p:ph idx="1" type="body"/>
          </p:nvPr>
        </p:nvSpPr>
        <p:spPr>
          <a:xfrm>
            <a:off x="406675" y="467100"/>
            <a:ext cx="8280000" cy="5659200"/>
          </a:xfrm>
          <a:prstGeom prst="rect">
            <a:avLst/>
          </a:prstGeom>
        </p:spPr>
        <p:txBody>
          <a:bodyPr anchorCtr="0" anchor="t" bIns="45700" lIns="91425" spcFirstLastPara="1" rIns="91425" wrap="square" tIns="45700">
            <a:noAutofit/>
          </a:bodyPr>
          <a:lstStyle/>
          <a:p>
            <a:pPr indent="-228600" lvl="0" marL="0" rtl="0" algn="just">
              <a:lnSpc>
                <a:spcPct val="115000"/>
              </a:lnSpc>
              <a:spcBef>
                <a:spcPts val="1200"/>
              </a:spcBef>
              <a:spcAft>
                <a:spcPts val="0"/>
              </a:spcAft>
              <a:buClr>
                <a:schemeClr val="dk1"/>
              </a:buClr>
              <a:buSzPts val="1100"/>
              <a:buFont typeface="Arial"/>
              <a:buNone/>
            </a:pPr>
            <a:r>
              <a:rPr lang="en-US" sz="2700"/>
              <a:t>  3. Expansion: The chosen node is evaluated by comparing it with its neighbours. For each neighbour, g(n) and h(n) values are calculated.</a:t>
            </a:r>
            <a:endParaRPr sz="2700"/>
          </a:p>
          <a:p>
            <a:pPr indent="-228600" lvl="0" marL="0" rtl="0" algn="just">
              <a:lnSpc>
                <a:spcPct val="115000"/>
              </a:lnSpc>
              <a:spcBef>
                <a:spcPts val="1200"/>
              </a:spcBef>
              <a:spcAft>
                <a:spcPts val="0"/>
              </a:spcAft>
              <a:buClr>
                <a:schemeClr val="dk1"/>
              </a:buClr>
              <a:buSzPts val="1100"/>
              <a:buFont typeface="Arial"/>
              <a:buNone/>
            </a:pPr>
            <a:r>
              <a:rPr lang="en-US" sz="2700"/>
              <a:t>  4. Update: If a neighbour has a lower f(n) value than the recorded one, it is updated to the open list.</a:t>
            </a:r>
            <a:endParaRPr sz="2700"/>
          </a:p>
          <a:p>
            <a:pPr indent="-228600" lvl="0" marL="0" rtl="0" algn="just">
              <a:lnSpc>
                <a:spcPct val="115000"/>
              </a:lnSpc>
              <a:spcBef>
                <a:spcPts val="1200"/>
              </a:spcBef>
              <a:spcAft>
                <a:spcPts val="0"/>
              </a:spcAft>
              <a:buClr>
                <a:schemeClr val="dk1"/>
              </a:buClr>
              <a:buSzPts val="1100"/>
              <a:buFont typeface="Arial"/>
              <a:buNone/>
            </a:pPr>
            <a:r>
              <a:rPr lang="en-US" sz="2700"/>
              <a:t>  5. Goal Check: The algorithm continues until the goal node is reached or the open list is empty, indicating no more path to traverse.</a:t>
            </a:r>
            <a:endParaRPr sz="2700"/>
          </a:p>
          <a:p>
            <a:pPr indent="-228600" lvl="0" marL="0" rtl="0" algn="just">
              <a:lnSpc>
                <a:spcPct val="115000"/>
              </a:lnSpc>
              <a:spcBef>
                <a:spcPts val="1200"/>
              </a:spcBef>
              <a:spcAft>
                <a:spcPts val="0"/>
              </a:spcAft>
              <a:buClr>
                <a:schemeClr val="dk1"/>
              </a:buClr>
              <a:buSzPts val="1100"/>
              <a:buFont typeface="Arial"/>
              <a:buNone/>
            </a:pPr>
            <a:r>
              <a:rPr lang="en-US" sz="2700"/>
              <a:t> 6. Reconstruction: After finding the goal node, the algorithm reconstructs the path by tracing from the goal to the start node.</a:t>
            </a:r>
            <a:endParaRPr sz="2700"/>
          </a:p>
          <a:p>
            <a:pPr indent="0" lvl="0" marL="0" rtl="0" algn="just">
              <a:lnSpc>
                <a:spcPct val="115000"/>
              </a:lnSpc>
              <a:spcBef>
                <a:spcPts val="1200"/>
              </a:spcBef>
              <a:spcAft>
                <a:spcPts val="0"/>
              </a:spcAft>
              <a:buClr>
                <a:schemeClr val="dk1"/>
              </a:buClr>
              <a:buSzPts val="1100"/>
              <a:buFont typeface="Arial"/>
              <a:buNone/>
            </a:pPr>
            <a:r>
              <a:rPr lang="en-US" sz="2700"/>
              <a:t> </a:t>
            </a:r>
            <a:endParaRPr sz="2700"/>
          </a:p>
          <a:p>
            <a:pPr indent="0" lvl="0" marL="0" rtl="0" algn="l">
              <a:spcBef>
                <a:spcPts val="360"/>
              </a:spcBef>
              <a:spcAft>
                <a:spcPts val="0"/>
              </a:spcAft>
              <a:buNone/>
            </a:pPr>
            <a:r>
              <a:t/>
            </a:r>
            <a:endParaRPr sz="2700"/>
          </a:p>
        </p:txBody>
      </p:sp>
      <p:sp>
        <p:nvSpPr>
          <p:cNvPr id="475" name="Google Shape;475;g3c2b18bd659_2_26"/>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g3c2b18bd659_2_35"/>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just">
              <a:lnSpc>
                <a:spcPct val="115000"/>
              </a:lnSpc>
              <a:spcBef>
                <a:spcPts val="1200"/>
              </a:spcBef>
              <a:spcAft>
                <a:spcPts val="0"/>
              </a:spcAft>
              <a:buNone/>
            </a:pPr>
            <a:r>
              <a:rPr b="1" lang="en-US"/>
              <a:t>Applications of A* Search:</a:t>
            </a:r>
            <a:endParaRPr/>
          </a:p>
        </p:txBody>
      </p:sp>
      <p:sp>
        <p:nvSpPr>
          <p:cNvPr id="482" name="Google Shape;482;g3c2b18bd659_2_35"/>
          <p:cNvSpPr txBox="1"/>
          <p:nvPr>
            <p:ph idx="1" type="body"/>
          </p:nvPr>
        </p:nvSpPr>
        <p:spPr>
          <a:xfrm>
            <a:off x="457200" y="1165950"/>
            <a:ext cx="8229600" cy="4526100"/>
          </a:xfrm>
          <a:prstGeom prst="rect">
            <a:avLst/>
          </a:prstGeom>
        </p:spPr>
        <p:txBody>
          <a:bodyPr anchorCtr="0" anchor="t" bIns="45700" lIns="91425" spcFirstLastPara="1" rIns="91425" wrap="square" tIns="45700">
            <a:noAutofit/>
          </a:bodyPr>
          <a:lstStyle/>
          <a:p>
            <a:pPr indent="-228600" lvl="0" marL="0" rtl="0" algn="just">
              <a:lnSpc>
                <a:spcPct val="115000"/>
              </a:lnSpc>
              <a:spcBef>
                <a:spcPts val="1200"/>
              </a:spcBef>
              <a:spcAft>
                <a:spcPts val="0"/>
              </a:spcAft>
              <a:buClr>
                <a:schemeClr val="dk1"/>
              </a:buClr>
              <a:buSzPts val="1100"/>
              <a:buFont typeface="Arial"/>
              <a:buNone/>
            </a:pPr>
            <a:r>
              <a:rPr lang="en-US" sz="2700"/>
              <a:t>  Pathfinding in Games: A* algorithm is used in Artificial Intelligence Video Games where non-player characters, commonly known as bots, find the shortest path throughout the game.</a:t>
            </a:r>
            <a:endParaRPr sz="2700"/>
          </a:p>
          <a:p>
            <a:pPr indent="-228600" lvl="0" marL="0" rtl="0" algn="just">
              <a:lnSpc>
                <a:spcPct val="115000"/>
              </a:lnSpc>
              <a:spcBef>
                <a:spcPts val="1200"/>
              </a:spcBef>
              <a:spcAft>
                <a:spcPts val="0"/>
              </a:spcAft>
              <a:buClr>
                <a:schemeClr val="dk1"/>
              </a:buClr>
              <a:buSzPts val="1100"/>
              <a:buFont typeface="Arial"/>
              <a:buNone/>
            </a:pPr>
            <a:r>
              <a:rPr lang="en-US" sz="2700"/>
              <a:t> Robotics: This algorithm also helps robots navigate through environments, avoiding obstacles.</a:t>
            </a:r>
            <a:endParaRPr sz="2700"/>
          </a:p>
          <a:p>
            <a:pPr indent="-228600" lvl="0" marL="0" rtl="0" algn="just">
              <a:lnSpc>
                <a:spcPct val="115000"/>
              </a:lnSpc>
              <a:spcBef>
                <a:spcPts val="1200"/>
              </a:spcBef>
              <a:spcAft>
                <a:spcPts val="0"/>
              </a:spcAft>
              <a:buClr>
                <a:schemeClr val="dk1"/>
              </a:buClr>
              <a:buSzPts val="1100"/>
              <a:buFont typeface="Arial"/>
              <a:buNone/>
            </a:pPr>
            <a:r>
              <a:rPr lang="en-US" sz="2700"/>
              <a:t>  GPS Navigation: This algorithm is preferred to find the best and most efficient route between two points.</a:t>
            </a:r>
            <a:endParaRPr sz="2700"/>
          </a:p>
          <a:p>
            <a:pPr indent="-228600" lvl="0" marL="0" rtl="0" algn="just">
              <a:lnSpc>
                <a:spcPct val="115000"/>
              </a:lnSpc>
              <a:spcBef>
                <a:spcPts val="1200"/>
              </a:spcBef>
              <a:spcAft>
                <a:spcPts val="0"/>
              </a:spcAft>
              <a:buNone/>
            </a:pPr>
            <a:r>
              <a:rPr lang="en-US" sz="2700"/>
              <a:t>  Puzzle Solving: Puzzles where the target is to reach a goal from an initial position, such as 8-puzzle or sliding puzzles, take the help of A* Search Algorithm.</a:t>
            </a:r>
            <a:endParaRPr sz="2700"/>
          </a:p>
        </p:txBody>
      </p:sp>
      <p:sp>
        <p:nvSpPr>
          <p:cNvPr id="483" name="Google Shape;483;g3c2b18bd659_2_3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A* Graph search</a:t>
            </a:r>
            <a:endParaRPr/>
          </a:p>
        </p:txBody>
      </p:sp>
      <p:sp>
        <p:nvSpPr>
          <p:cNvPr id="489" name="Google Shape;489;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chemeClr val="dk1"/>
              </a:buClr>
              <a:buSzPct val="100000"/>
              <a:buChar char="•"/>
            </a:pPr>
            <a:r>
              <a:rPr lang="en-US"/>
              <a:t>A* graph search is an informed algorithm that finds the shortest path in a graph by considering both the cost to reach a node (g(n)) and the estimated cost to the goal (h(n)).</a:t>
            </a:r>
            <a:endParaRPr/>
          </a:p>
          <a:p>
            <a:pPr indent="-342900" lvl="0" marL="342900" rtl="0" algn="l">
              <a:spcBef>
                <a:spcPts val="544"/>
              </a:spcBef>
              <a:spcAft>
                <a:spcPts val="0"/>
              </a:spcAft>
              <a:buClr>
                <a:schemeClr val="dk1"/>
              </a:buClr>
              <a:buSzPct val="100000"/>
              <a:buChar char="•"/>
            </a:pPr>
            <a:r>
              <a:rPr lang="en-US"/>
              <a:t>It keeps track of visited nodes using a closed list to avoid revisiting them which makes it efficient and prevents cycles or redundant paths.</a:t>
            </a:r>
            <a:endParaRPr/>
          </a:p>
          <a:p>
            <a:pPr indent="-342900" lvl="0" marL="342900" rtl="0" algn="l">
              <a:spcBef>
                <a:spcPts val="544"/>
              </a:spcBef>
              <a:spcAft>
                <a:spcPts val="0"/>
              </a:spcAft>
              <a:buClr>
                <a:schemeClr val="dk1"/>
              </a:buClr>
              <a:buSzPct val="100000"/>
              <a:buChar char="•"/>
            </a:pPr>
            <a:r>
              <a:rPr lang="en-US"/>
              <a:t>This approach ensures optimality and completeness if the heuristic is admissible.</a:t>
            </a:r>
            <a:endParaRPr/>
          </a:p>
          <a:p>
            <a:pPr indent="-342900" lvl="0" marL="342900" rtl="0" algn="l">
              <a:spcBef>
                <a:spcPts val="544"/>
              </a:spcBef>
              <a:spcAft>
                <a:spcPts val="0"/>
              </a:spcAft>
              <a:buClr>
                <a:schemeClr val="dk1"/>
              </a:buClr>
              <a:buSzPct val="100000"/>
              <a:buChar char="•"/>
            </a:pPr>
            <a:r>
              <a:rPr lang="en-US"/>
              <a:t>It’s suitable for complex environments like road maps or game levels where paths may loop or intersect.</a:t>
            </a:r>
            <a:endParaRPr/>
          </a:p>
        </p:txBody>
      </p:sp>
      <p:sp>
        <p:nvSpPr>
          <p:cNvPr id="490" name="Google Shape;490;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2. Constraint Satisfaction Problems</a:t>
            </a:r>
            <a:endParaRPr/>
          </a:p>
        </p:txBody>
      </p:sp>
      <p:sp>
        <p:nvSpPr>
          <p:cNvPr id="496" name="Google Shape;496;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 </a:t>
            </a:r>
            <a:r>
              <a:rPr b="1" lang="en-US"/>
              <a:t>Constraint Satisfaction Problem</a:t>
            </a:r>
            <a:r>
              <a:rPr lang="en-US"/>
              <a:t> is a mathematical problem where the solution must meet a number of constraints. </a:t>
            </a:r>
            <a:endParaRPr/>
          </a:p>
          <a:p>
            <a:pPr indent="-342900" lvl="0" marL="342900" rtl="0" algn="l">
              <a:spcBef>
                <a:spcPts val="640"/>
              </a:spcBef>
              <a:spcAft>
                <a:spcPts val="0"/>
              </a:spcAft>
              <a:buClr>
                <a:schemeClr val="dk1"/>
              </a:buClr>
              <a:buSzPts val="3200"/>
              <a:buChar char="•"/>
            </a:pPr>
            <a:r>
              <a:rPr lang="en-US"/>
              <a:t>In CSP the objective is to assign values to variables such that all the constraints are satisfied. </a:t>
            </a:r>
            <a:endParaRPr/>
          </a:p>
        </p:txBody>
      </p:sp>
      <p:sp>
        <p:nvSpPr>
          <p:cNvPr id="497" name="Google Shape;497;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Common applications of CSPs include:</a:t>
            </a:r>
            <a:endParaRPr/>
          </a:p>
        </p:txBody>
      </p:sp>
      <p:sp>
        <p:nvSpPr>
          <p:cNvPr id="503" name="Google Shape;503;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Scheduling:</a:t>
            </a:r>
            <a:r>
              <a:rPr lang="en-US"/>
              <a:t> It assigns resources like employees or equipment while respecting time and availability constraints.</a:t>
            </a:r>
            <a:endParaRPr/>
          </a:p>
          <a:p>
            <a:pPr indent="-342900" lvl="0" marL="342900" rtl="0" algn="l">
              <a:spcBef>
                <a:spcPts val="640"/>
              </a:spcBef>
              <a:spcAft>
                <a:spcPts val="0"/>
              </a:spcAft>
              <a:buClr>
                <a:schemeClr val="dk1"/>
              </a:buClr>
              <a:buSzPts val="3200"/>
              <a:buChar char="•"/>
            </a:pPr>
            <a:r>
              <a:rPr b="1" lang="en-US"/>
              <a:t>Planning:</a:t>
            </a:r>
            <a:r>
              <a:rPr lang="en-US"/>
              <a:t> Organize tasks with specific deadlines or sequences.</a:t>
            </a:r>
            <a:endParaRPr/>
          </a:p>
          <a:p>
            <a:pPr indent="-342900" lvl="0" marL="342900" rtl="0" algn="l">
              <a:spcBef>
                <a:spcPts val="640"/>
              </a:spcBef>
              <a:spcAft>
                <a:spcPts val="0"/>
              </a:spcAft>
              <a:buClr>
                <a:schemeClr val="dk1"/>
              </a:buClr>
              <a:buSzPts val="3200"/>
              <a:buChar char="•"/>
            </a:pPr>
            <a:r>
              <a:rPr b="1" lang="en-US"/>
              <a:t>Resource Allocation:</a:t>
            </a:r>
            <a:r>
              <a:rPr lang="en-US"/>
              <a:t> Distributing resources efficiently without overuse</a:t>
            </a:r>
            <a:endParaRPr/>
          </a:p>
        </p:txBody>
      </p:sp>
      <p:sp>
        <p:nvSpPr>
          <p:cNvPr id="504" name="Google Shape;50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3. Optimization Techniques</a:t>
            </a:r>
            <a:endParaRPr/>
          </a:p>
        </p:txBody>
      </p:sp>
      <p:sp>
        <p:nvSpPr>
          <p:cNvPr id="510" name="Google Shape;510;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US"/>
              <a:t>AI often addresses optimization problems where the goal is to find the best possible solution among many options. Techniques include:</a:t>
            </a:r>
            <a:endParaRPr/>
          </a:p>
          <a:p>
            <a:pPr indent="-342900" lvl="0" marL="342900" rtl="0" algn="l">
              <a:spcBef>
                <a:spcPts val="592"/>
              </a:spcBef>
              <a:spcAft>
                <a:spcPts val="0"/>
              </a:spcAft>
              <a:buClr>
                <a:schemeClr val="dk1"/>
              </a:buClr>
              <a:buSzPct val="100000"/>
              <a:buChar char="•"/>
            </a:pPr>
            <a:r>
              <a:rPr lang="en-US"/>
              <a:t>Linear programming for solving problems involving linear relationships.</a:t>
            </a:r>
            <a:endParaRPr/>
          </a:p>
          <a:p>
            <a:pPr indent="-342900" lvl="0" marL="342900" rtl="0" algn="l">
              <a:spcBef>
                <a:spcPts val="592"/>
              </a:spcBef>
              <a:spcAft>
                <a:spcPts val="0"/>
              </a:spcAft>
              <a:buClr>
                <a:schemeClr val="dk1"/>
              </a:buClr>
              <a:buSzPct val="100000"/>
              <a:buChar char="•"/>
            </a:pPr>
            <a:r>
              <a:rPr lang="en-US"/>
              <a:t>Dynamic programming for breaking down complex problems into smaller subproblems.</a:t>
            </a:r>
            <a:endParaRPr/>
          </a:p>
          <a:p>
            <a:pPr indent="-342900" lvl="0" marL="342900" rtl="0" algn="l">
              <a:spcBef>
                <a:spcPts val="592"/>
              </a:spcBef>
              <a:spcAft>
                <a:spcPts val="0"/>
              </a:spcAft>
              <a:buClr>
                <a:schemeClr val="dk1"/>
              </a:buClr>
              <a:buSzPct val="100000"/>
              <a:buChar char="•"/>
            </a:pPr>
            <a:r>
              <a:rPr lang="en-US"/>
              <a:t>Evolutionary algorithms like genetic algorithms that simulate natural selection to find optimal solutions.</a:t>
            </a:r>
            <a:endParaRPr/>
          </a:p>
          <a:p>
            <a:pPr indent="0" lvl="0" marL="0" rtl="0" algn="l">
              <a:spcBef>
                <a:spcPts val="592"/>
              </a:spcBef>
              <a:spcAft>
                <a:spcPts val="0"/>
              </a:spcAft>
              <a:buClr>
                <a:schemeClr val="dk1"/>
              </a:buClr>
              <a:buSzPct val="100000"/>
              <a:buNone/>
            </a:pPr>
            <a:r>
              <a:t/>
            </a:r>
            <a:endParaRPr/>
          </a:p>
        </p:txBody>
      </p:sp>
      <p:sp>
        <p:nvSpPr>
          <p:cNvPr id="511" name="Google Shape;511;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Challenges in AI Problem Solving</a:t>
            </a:r>
            <a:endParaRPr/>
          </a:p>
        </p:txBody>
      </p:sp>
      <p:sp>
        <p:nvSpPr>
          <p:cNvPr id="517" name="Google Shape;517;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lang="en-US"/>
              <a:t>Despite its many advantages, it faces several challenges:</a:t>
            </a:r>
            <a:endParaRPr/>
          </a:p>
          <a:p>
            <a:pPr indent="0" lvl="0" marL="0" rtl="0" algn="l">
              <a:spcBef>
                <a:spcPts val="496"/>
              </a:spcBef>
              <a:spcAft>
                <a:spcPts val="0"/>
              </a:spcAft>
              <a:buClr>
                <a:schemeClr val="dk1"/>
              </a:buClr>
              <a:buSzPct val="100000"/>
              <a:buNone/>
            </a:pPr>
            <a:r>
              <a:t/>
            </a:r>
            <a:endParaRPr/>
          </a:p>
          <a:p>
            <a:pPr indent="-342900" lvl="0" marL="342900" rtl="0" algn="l">
              <a:spcBef>
                <a:spcPts val="496"/>
              </a:spcBef>
              <a:spcAft>
                <a:spcPts val="0"/>
              </a:spcAft>
              <a:buClr>
                <a:schemeClr val="dk1"/>
              </a:buClr>
              <a:buSzPct val="100000"/>
              <a:buChar char="•"/>
            </a:pPr>
            <a:r>
              <a:rPr b="1" lang="en-US"/>
              <a:t>Complexity</a:t>
            </a:r>
            <a:r>
              <a:rPr lang="en-US"/>
              <a:t>: Some problems are highly complex, requiring significant computational resources and time to solve.</a:t>
            </a:r>
            <a:endParaRPr/>
          </a:p>
          <a:p>
            <a:pPr indent="-342900" lvl="0" marL="342900" rtl="0" algn="l">
              <a:spcBef>
                <a:spcPts val="496"/>
              </a:spcBef>
              <a:spcAft>
                <a:spcPts val="0"/>
              </a:spcAft>
              <a:buClr>
                <a:schemeClr val="dk1"/>
              </a:buClr>
              <a:buSzPct val="100000"/>
              <a:buChar char="•"/>
            </a:pPr>
            <a:r>
              <a:rPr b="1" lang="en-US"/>
              <a:t>Data Quality</a:t>
            </a:r>
            <a:r>
              <a:rPr lang="en-US"/>
              <a:t>: AI systems depend on data quality and poor or biased data can lead to inaccurate or misleading outcomes.</a:t>
            </a:r>
            <a:endParaRPr/>
          </a:p>
          <a:p>
            <a:pPr indent="-342900" lvl="0" marL="342900" rtl="0" algn="l">
              <a:spcBef>
                <a:spcPts val="496"/>
              </a:spcBef>
              <a:spcAft>
                <a:spcPts val="0"/>
              </a:spcAft>
              <a:buClr>
                <a:schemeClr val="dk1"/>
              </a:buClr>
              <a:buSzPct val="100000"/>
              <a:buChar char="•"/>
            </a:pPr>
            <a:r>
              <a:rPr b="1" lang="en-US"/>
              <a:t>Interpretability</a:t>
            </a:r>
            <a:r>
              <a:rPr lang="en-US"/>
              <a:t>: Many AI models, especially deep learning, lack transparency, making it hard to understand how decisions are made.</a:t>
            </a:r>
            <a:endParaRPr/>
          </a:p>
          <a:p>
            <a:pPr indent="-342900" lvl="0" marL="342900" rtl="0" algn="l">
              <a:spcBef>
                <a:spcPts val="496"/>
              </a:spcBef>
              <a:spcAft>
                <a:spcPts val="0"/>
              </a:spcAft>
              <a:buClr>
                <a:schemeClr val="dk1"/>
              </a:buClr>
              <a:buSzPct val="100000"/>
              <a:buChar char="•"/>
            </a:pPr>
            <a:r>
              <a:rPr b="1" lang="en-US"/>
              <a:t>Ethics and Bias</a:t>
            </a:r>
            <a:r>
              <a:rPr lang="en-US"/>
              <a:t>: AI can conserve biases in data which leads to unfair or unethical outcomes, ensuring fairness is a key challenge.</a:t>
            </a:r>
            <a:endParaRPr/>
          </a:p>
        </p:txBody>
      </p:sp>
      <p:sp>
        <p:nvSpPr>
          <p:cNvPr id="518" name="Google Shape;518;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g3be792f7f1b_0_50"/>
          <p:cNvSpPr txBox="1"/>
          <p:nvPr>
            <p:ph idx="1" type="body"/>
          </p:nvPr>
        </p:nvSpPr>
        <p:spPr>
          <a:xfrm>
            <a:off x="549400" y="1231350"/>
            <a:ext cx="8229600" cy="4526100"/>
          </a:xfrm>
          <a:prstGeom prst="rect">
            <a:avLst/>
          </a:prstGeom>
        </p:spPr>
        <p:txBody>
          <a:bodyPr anchorCtr="0" anchor="ctr" bIns="45700" lIns="91425" spcFirstLastPara="1" rIns="91425" wrap="square" tIns="45700">
            <a:normAutofit/>
          </a:bodyPr>
          <a:lstStyle/>
          <a:p>
            <a:pPr indent="0" lvl="0" marL="0" rtl="0" algn="ctr">
              <a:spcBef>
                <a:spcPts val="360"/>
              </a:spcBef>
              <a:spcAft>
                <a:spcPts val="0"/>
              </a:spcAft>
              <a:buNone/>
            </a:pPr>
            <a:r>
              <a:rPr b="1" lang="en-US" sz="5000"/>
              <a:t>Exploratory Data Analysis</a:t>
            </a:r>
            <a:endParaRPr b="1" sz="5000"/>
          </a:p>
        </p:txBody>
      </p:sp>
      <p:sp>
        <p:nvSpPr>
          <p:cNvPr id="525" name="Google Shape;525;g3be792f7f1b_0_5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g3c6d7a0b452_0_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l">
              <a:lnSpc>
                <a:spcPct val="115000"/>
              </a:lnSpc>
              <a:spcBef>
                <a:spcPts val="1200"/>
              </a:spcBef>
              <a:spcAft>
                <a:spcPts val="1200"/>
              </a:spcAft>
              <a:buClr>
                <a:schemeClr val="dk1"/>
              </a:buClr>
              <a:buSzPts val="1100"/>
              <a:buFont typeface="Arial"/>
              <a:buNone/>
            </a:pPr>
            <a:r>
              <a:rPr lang="en-US" sz="2700">
                <a:latin typeface="Times New Roman"/>
                <a:ea typeface="Times New Roman"/>
                <a:cs typeface="Times New Roman"/>
                <a:sym typeface="Times New Roman"/>
              </a:rPr>
              <a:t>Key Aspects of Descriptive Statistics:</a:t>
            </a:r>
            <a:endParaRPr sz="2700">
              <a:latin typeface="Times New Roman"/>
              <a:ea typeface="Times New Roman"/>
              <a:cs typeface="Times New Roman"/>
              <a:sym typeface="Times New Roman"/>
            </a:endParaRPr>
          </a:p>
        </p:txBody>
      </p:sp>
      <p:sp>
        <p:nvSpPr>
          <p:cNvPr id="532" name="Google Shape;532;g3c6d7a0b452_0_0"/>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2400">
                <a:latin typeface="Times New Roman"/>
                <a:ea typeface="Times New Roman"/>
                <a:cs typeface="Times New Roman"/>
                <a:sym typeface="Times New Roman"/>
              </a:rPr>
              <a:t>1. Measures of Central Tendency:</a:t>
            </a:r>
            <a:endParaRPr b="1" sz="2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Mean: The average of all values in a dataset.</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Mean (̄x—) = Σx / n</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Where:</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Σx = sum of all data values</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n = total number of values</a:t>
            </a:r>
            <a:endParaRPr sz="2400">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2400">
              <a:latin typeface="Times New Roman"/>
              <a:ea typeface="Times New Roman"/>
              <a:cs typeface="Times New Roman"/>
              <a:sym typeface="Times New Roman"/>
            </a:endParaRPr>
          </a:p>
        </p:txBody>
      </p:sp>
      <p:sp>
        <p:nvSpPr>
          <p:cNvPr id="533" name="Google Shape;533;g3c6d7a0b452_0_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g3be792f7f1b_0_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Median: The middle value when the data is ordered.</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If n is odd: Median = value at position (n + 1) / 2</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If n is even: Median = average of values at positions n/2 and (n/2 + 1)</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400">
                <a:latin typeface="Times New Roman"/>
                <a:ea typeface="Times New Roman"/>
                <a:cs typeface="Times New Roman"/>
                <a:sym typeface="Times New Roman"/>
              </a:rPr>
              <a:t>Mode: The value that appears most frequently in the dataset.</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sz="2400">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
        <p:nvSpPr>
          <p:cNvPr id="540" name="Google Shape;540;g3be792f7f1b_0_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g3be792f7f1b_0_7"/>
          <p:cNvSpPr txBox="1"/>
          <p:nvPr>
            <p:ph idx="1" type="body"/>
          </p:nvPr>
        </p:nvSpPr>
        <p:spPr>
          <a:xfrm>
            <a:off x="457200" y="802975"/>
            <a:ext cx="8229600" cy="5323200"/>
          </a:xfrm>
          <a:prstGeom prst="rect">
            <a:avLst/>
          </a:prstGeom>
        </p:spPr>
        <p:txBody>
          <a:bodyPr anchorCtr="0" anchor="t" bIns="45700" lIns="91425" spcFirstLastPara="1" rIns="91425" wrap="square" tIns="45700">
            <a:normAutofit fontScale="85000" lnSpcReduction="20000"/>
          </a:bodyPr>
          <a:lstStyle/>
          <a:p>
            <a:pPr indent="0" lvl="0" marL="0" rtl="0" algn="l">
              <a:spcBef>
                <a:spcPts val="360"/>
              </a:spcBef>
              <a:spcAft>
                <a:spcPts val="0"/>
              </a:spcAft>
              <a:buNone/>
            </a:pPr>
            <a:r>
              <a:rPr b="1" lang="en-US"/>
              <a:t>2. Measures of Dispersion (Variability):</a:t>
            </a:r>
            <a:endParaRPr b="1"/>
          </a:p>
          <a:p>
            <a:pPr indent="0" lvl="0" marL="0" rtl="0" algn="l">
              <a:spcBef>
                <a:spcPts val="360"/>
              </a:spcBef>
              <a:spcAft>
                <a:spcPts val="0"/>
              </a:spcAft>
              <a:buClr>
                <a:schemeClr val="dk1"/>
              </a:buClr>
              <a:buSzPct val="34375"/>
              <a:buFont typeface="Arial"/>
              <a:buNone/>
            </a:pPr>
            <a:r>
              <a:t/>
            </a:r>
            <a:endParaRPr b="1"/>
          </a:p>
          <a:p>
            <a:pPr indent="0" lvl="0" marL="0" rtl="0" algn="l">
              <a:spcBef>
                <a:spcPts val="360"/>
              </a:spcBef>
              <a:spcAft>
                <a:spcPts val="0"/>
              </a:spcAft>
              <a:buClr>
                <a:schemeClr val="dk1"/>
              </a:buClr>
              <a:buSzPct val="34375"/>
              <a:buFont typeface="Arial"/>
              <a:buNone/>
            </a:pPr>
            <a:r>
              <a:rPr lang="en-US"/>
              <a:t>Range: The difference between the highest and lowest values.</a:t>
            </a:r>
            <a:endParaRPr/>
          </a:p>
          <a:p>
            <a:pPr indent="0" lvl="0" marL="0" rtl="0" algn="l">
              <a:spcBef>
                <a:spcPts val="360"/>
              </a:spcBef>
              <a:spcAft>
                <a:spcPts val="0"/>
              </a:spcAft>
              <a:buClr>
                <a:schemeClr val="dk1"/>
              </a:buClr>
              <a:buSzPct val="34375"/>
              <a:buFont typeface="Arial"/>
              <a:buNone/>
            </a:pPr>
            <a:r>
              <a:t/>
            </a:r>
            <a:endParaRPr/>
          </a:p>
          <a:p>
            <a:pPr indent="0" lvl="0" marL="0" rtl="0" algn="ctr">
              <a:spcBef>
                <a:spcPts val="360"/>
              </a:spcBef>
              <a:spcAft>
                <a:spcPts val="0"/>
              </a:spcAft>
              <a:buClr>
                <a:schemeClr val="dk1"/>
              </a:buClr>
              <a:buSzPct val="34375"/>
              <a:buFont typeface="Arial"/>
              <a:buNone/>
            </a:pPr>
            <a:r>
              <a:rPr lang="en-US"/>
              <a:t>(</a:t>
            </a:r>
            <a:r>
              <a:rPr lang="en-US"/>
              <a:t>Max - Min)</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Variance: A measure of how spread out the data is from the mean.</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Standard Deviation: The square root of the variance, also</a:t>
            </a:r>
            <a:endParaRPr/>
          </a:p>
          <a:p>
            <a:pPr indent="0" lvl="0" marL="0" rtl="0" algn="l">
              <a:spcBef>
                <a:spcPts val="360"/>
              </a:spcBef>
              <a:spcAft>
                <a:spcPts val="0"/>
              </a:spcAft>
              <a:buClr>
                <a:schemeClr val="dk1"/>
              </a:buClr>
              <a:buSzPct val="34375"/>
              <a:buFont typeface="Arial"/>
              <a:buNone/>
            </a:pPr>
            <a:r>
              <a:rPr lang="en-US"/>
              <a:t>indicating the spread of data.</a:t>
            </a:r>
            <a:endParaRPr/>
          </a:p>
          <a:p>
            <a:pPr indent="0" lvl="0" marL="0" rtl="0" algn="l">
              <a:spcBef>
                <a:spcPts val="360"/>
              </a:spcBef>
              <a:spcAft>
                <a:spcPts val="0"/>
              </a:spcAft>
              <a:buNone/>
            </a:pPr>
            <a:r>
              <a:t/>
            </a:r>
            <a:endParaRPr/>
          </a:p>
        </p:txBody>
      </p:sp>
      <p:sp>
        <p:nvSpPr>
          <p:cNvPr id="547" name="Google Shape;547;g3be792f7f1b_0_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be792f7f1b_0_14"/>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b="1" lang="en-US"/>
              <a:t>3. Frequency Distributions:</a:t>
            </a:r>
            <a:endParaRPr b="1"/>
          </a:p>
          <a:p>
            <a:pPr indent="0" lvl="0" marL="0" rtl="0" algn="l">
              <a:spcBef>
                <a:spcPts val="360"/>
              </a:spcBef>
              <a:spcAft>
                <a:spcPts val="0"/>
              </a:spcAft>
              <a:buClr>
                <a:schemeClr val="dk1"/>
              </a:buClr>
              <a:buSzPts val="1100"/>
              <a:buFont typeface="Arial"/>
              <a:buNone/>
            </a:pPr>
            <a:r>
              <a:rPr lang="en-US"/>
              <a:t>Show how often each value or range of values occurs in the</a:t>
            </a:r>
            <a:endParaRPr/>
          </a:p>
          <a:p>
            <a:pPr indent="0" lvl="0" marL="0" rtl="0" algn="l">
              <a:spcBef>
                <a:spcPts val="360"/>
              </a:spcBef>
              <a:spcAft>
                <a:spcPts val="0"/>
              </a:spcAft>
              <a:buClr>
                <a:schemeClr val="dk1"/>
              </a:buClr>
              <a:buSzPts val="1100"/>
              <a:buFont typeface="Arial"/>
              <a:buNone/>
            </a:pPr>
            <a:r>
              <a:rPr lang="en-US"/>
              <a:t>dataset.</a:t>
            </a:r>
            <a:endParaRPr/>
          </a:p>
          <a:p>
            <a:pPr indent="0" lvl="0" marL="0" rtl="0" algn="l">
              <a:spcBef>
                <a:spcPts val="360"/>
              </a:spcBef>
              <a:spcAft>
                <a:spcPts val="0"/>
              </a:spcAft>
              <a:buClr>
                <a:schemeClr val="dk1"/>
              </a:buClr>
              <a:buSzPts val="1100"/>
              <a:buFont typeface="Arial"/>
              <a:buNone/>
            </a:pPr>
            <a:r>
              <a:rPr lang="en-US"/>
              <a:t>Often visualized using histograms or bar charts.</a:t>
            </a:r>
            <a:endParaRPr/>
          </a:p>
          <a:p>
            <a:pPr indent="0" lvl="0" marL="0" rtl="0" algn="l">
              <a:spcBef>
                <a:spcPts val="360"/>
              </a:spcBef>
              <a:spcAft>
                <a:spcPts val="0"/>
              </a:spcAft>
              <a:buNone/>
            </a:pPr>
            <a:r>
              <a:t/>
            </a:r>
            <a:endParaRPr/>
          </a:p>
        </p:txBody>
      </p:sp>
      <p:sp>
        <p:nvSpPr>
          <p:cNvPr id="554" name="Google Shape;554;g3be792f7f1b_0_1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g3be792f7f1b_0_42"/>
          <p:cNvSpPr txBox="1"/>
          <p:nvPr>
            <p:ph idx="1" type="body"/>
          </p:nvPr>
        </p:nvSpPr>
        <p:spPr>
          <a:xfrm>
            <a:off x="457200" y="710775"/>
            <a:ext cx="8229600" cy="5415600"/>
          </a:xfrm>
          <a:prstGeom prst="rect">
            <a:avLst/>
          </a:prstGeom>
        </p:spPr>
        <p:txBody>
          <a:bodyPr anchorCtr="0" anchor="t" bIns="45700" lIns="91425" spcFirstLastPara="1" rIns="91425" wrap="square" tIns="45700">
            <a:normAutofit lnSpcReduction="20000"/>
          </a:bodyPr>
          <a:lstStyle/>
          <a:p>
            <a:pPr indent="0" lvl="0" marL="0" rtl="0" algn="l">
              <a:lnSpc>
                <a:spcPct val="115000"/>
              </a:lnSpc>
              <a:spcBef>
                <a:spcPts val="2400"/>
              </a:spcBef>
              <a:spcAft>
                <a:spcPts val="0"/>
              </a:spcAft>
              <a:buClr>
                <a:schemeClr val="dk1"/>
              </a:buClr>
              <a:buSzPts val="1100"/>
              <a:buFont typeface="Arial"/>
              <a:buNone/>
            </a:pPr>
            <a:r>
              <a:rPr b="1" lang="en-US" sz="2800">
                <a:solidFill>
                  <a:srgbClr val="000000"/>
                </a:solidFill>
                <a:latin typeface="Times New Roman"/>
                <a:ea typeface="Times New Roman"/>
                <a:cs typeface="Times New Roman"/>
                <a:sym typeface="Times New Roman"/>
              </a:rPr>
              <a:t>4. Five-Number Summary</a:t>
            </a:r>
            <a:endParaRPr b="1" sz="2800">
              <a:solidFill>
                <a:srgbClr val="000000"/>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400">
                <a:solidFill>
                  <a:srgbClr val="000000"/>
                </a:solidFill>
                <a:latin typeface="Times New Roman"/>
                <a:ea typeface="Times New Roman"/>
                <a:cs typeface="Times New Roman"/>
                <a:sym typeface="Times New Roman"/>
              </a:rPr>
              <a:t>Five-number summary consists of:</a:t>
            </a:r>
            <a:endParaRPr sz="2400">
              <a:solidFill>
                <a:srgbClr val="000000"/>
              </a:solidFill>
              <a:latin typeface="Times New Roman"/>
              <a:ea typeface="Times New Roman"/>
              <a:cs typeface="Times New Roman"/>
              <a:sym typeface="Times New Roman"/>
            </a:endParaRPr>
          </a:p>
          <a:p>
            <a:pPr indent="-381000" lvl="0" marL="457200" rtl="0" algn="l">
              <a:lnSpc>
                <a:spcPct val="115000"/>
              </a:lnSpc>
              <a:spcBef>
                <a:spcPts val="1200"/>
              </a:spcBef>
              <a:spcAft>
                <a:spcPts val="0"/>
              </a:spcAft>
              <a:buClr>
                <a:srgbClr val="000000"/>
              </a:buClr>
              <a:buSzPts val="2400"/>
              <a:buFont typeface="Times New Roman"/>
              <a:buAutoNum type="arabicPeriod"/>
            </a:pPr>
            <a:r>
              <a:rPr lang="en-US" sz="2400">
                <a:solidFill>
                  <a:srgbClr val="000000"/>
                </a:solidFill>
                <a:latin typeface="Times New Roman"/>
                <a:ea typeface="Times New Roman"/>
                <a:cs typeface="Times New Roman"/>
                <a:sym typeface="Times New Roman"/>
              </a:rPr>
              <a:t>Minimum</a:t>
            </a:r>
            <a:br>
              <a:rPr lang="en-US" sz="2400">
                <a:solidFill>
                  <a:srgbClr val="000000"/>
                </a:solidFill>
                <a:latin typeface="Times New Roman"/>
                <a:ea typeface="Times New Roman"/>
                <a:cs typeface="Times New Roman"/>
                <a:sym typeface="Times New Roman"/>
              </a:rPr>
            </a:br>
            <a:endParaRPr sz="2400">
              <a:solidFill>
                <a:srgbClr val="000000"/>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rgbClr val="000000"/>
              </a:buClr>
              <a:buSzPts val="2400"/>
              <a:buFont typeface="Times New Roman"/>
              <a:buAutoNum type="arabicPeriod"/>
            </a:pPr>
            <a:r>
              <a:rPr lang="en-US" sz="2400">
                <a:solidFill>
                  <a:srgbClr val="000000"/>
                </a:solidFill>
                <a:latin typeface="Times New Roman"/>
                <a:ea typeface="Times New Roman"/>
                <a:cs typeface="Times New Roman"/>
                <a:sym typeface="Times New Roman"/>
              </a:rPr>
              <a:t>Q1</a:t>
            </a:r>
            <a:br>
              <a:rPr lang="en-US" sz="2400">
                <a:solidFill>
                  <a:srgbClr val="000000"/>
                </a:solidFill>
                <a:latin typeface="Times New Roman"/>
                <a:ea typeface="Times New Roman"/>
                <a:cs typeface="Times New Roman"/>
                <a:sym typeface="Times New Roman"/>
              </a:rPr>
            </a:br>
            <a:endParaRPr sz="2400">
              <a:solidFill>
                <a:srgbClr val="000000"/>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rgbClr val="000000"/>
              </a:buClr>
              <a:buSzPts val="2400"/>
              <a:buFont typeface="Times New Roman"/>
              <a:buAutoNum type="arabicPeriod"/>
            </a:pPr>
            <a:r>
              <a:rPr lang="en-US" sz="2400">
                <a:solidFill>
                  <a:srgbClr val="000000"/>
                </a:solidFill>
                <a:latin typeface="Times New Roman"/>
                <a:ea typeface="Times New Roman"/>
                <a:cs typeface="Times New Roman"/>
                <a:sym typeface="Times New Roman"/>
              </a:rPr>
              <a:t>Median (Q2)</a:t>
            </a:r>
            <a:br>
              <a:rPr lang="en-US" sz="2400">
                <a:solidFill>
                  <a:srgbClr val="000000"/>
                </a:solidFill>
                <a:latin typeface="Times New Roman"/>
                <a:ea typeface="Times New Roman"/>
                <a:cs typeface="Times New Roman"/>
                <a:sym typeface="Times New Roman"/>
              </a:rPr>
            </a:br>
            <a:endParaRPr sz="2400">
              <a:solidFill>
                <a:srgbClr val="000000"/>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rgbClr val="000000"/>
              </a:buClr>
              <a:buSzPts val="2400"/>
              <a:buFont typeface="Times New Roman"/>
              <a:buAutoNum type="arabicPeriod"/>
            </a:pPr>
            <a:r>
              <a:rPr lang="en-US" sz="2400">
                <a:solidFill>
                  <a:srgbClr val="000000"/>
                </a:solidFill>
                <a:latin typeface="Times New Roman"/>
                <a:ea typeface="Times New Roman"/>
                <a:cs typeface="Times New Roman"/>
                <a:sym typeface="Times New Roman"/>
              </a:rPr>
              <a:t>Q3</a:t>
            </a:r>
            <a:br>
              <a:rPr lang="en-US" sz="2400">
                <a:solidFill>
                  <a:srgbClr val="000000"/>
                </a:solidFill>
                <a:latin typeface="Times New Roman"/>
                <a:ea typeface="Times New Roman"/>
                <a:cs typeface="Times New Roman"/>
                <a:sym typeface="Times New Roman"/>
              </a:rPr>
            </a:br>
            <a:endParaRPr sz="2400">
              <a:solidFill>
                <a:srgbClr val="000000"/>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rgbClr val="000000"/>
              </a:buClr>
              <a:buSzPts val="2400"/>
              <a:buFont typeface="Times New Roman"/>
              <a:buAutoNum type="arabicPeriod"/>
            </a:pPr>
            <a:r>
              <a:rPr lang="en-US" sz="2400">
                <a:solidFill>
                  <a:srgbClr val="000000"/>
                </a:solidFill>
                <a:latin typeface="Times New Roman"/>
                <a:ea typeface="Times New Roman"/>
                <a:cs typeface="Times New Roman"/>
                <a:sym typeface="Times New Roman"/>
              </a:rPr>
              <a:t>Maximum</a:t>
            </a:r>
            <a:br>
              <a:rPr lang="en-US" sz="2400">
                <a:solidFill>
                  <a:srgbClr val="000000"/>
                </a:solidFill>
                <a:latin typeface="Times New Roman"/>
                <a:ea typeface="Times New Roman"/>
                <a:cs typeface="Times New Roman"/>
                <a:sym typeface="Times New Roman"/>
              </a:rPr>
            </a:br>
            <a:endParaRPr sz="2400">
              <a:solidFill>
                <a:srgbClr val="000000"/>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US" sz="2400">
                <a:solidFill>
                  <a:srgbClr val="000000"/>
                </a:solidFill>
                <a:latin typeface="Times New Roman"/>
                <a:ea typeface="Times New Roman"/>
                <a:cs typeface="Times New Roman"/>
                <a:sym typeface="Times New Roman"/>
              </a:rPr>
              <a:t>This is used to create a </a:t>
            </a:r>
            <a:r>
              <a:rPr b="1" lang="en-US" sz="2400">
                <a:solidFill>
                  <a:srgbClr val="000000"/>
                </a:solidFill>
                <a:latin typeface="Times New Roman"/>
                <a:ea typeface="Times New Roman"/>
                <a:cs typeface="Times New Roman"/>
                <a:sym typeface="Times New Roman"/>
              </a:rPr>
              <a:t>Box Plot</a:t>
            </a:r>
            <a:r>
              <a:rPr lang="en-US" sz="2400">
                <a:solidFill>
                  <a:srgbClr val="000000"/>
                </a:solidFill>
                <a:latin typeface="Times New Roman"/>
                <a:ea typeface="Times New Roman"/>
                <a:cs typeface="Times New Roman"/>
                <a:sym typeface="Times New Roman"/>
              </a:rPr>
              <a:t>.</a:t>
            </a:r>
            <a:endParaRPr/>
          </a:p>
        </p:txBody>
      </p:sp>
      <p:sp>
        <p:nvSpPr>
          <p:cNvPr id="561" name="Google Shape;561;g3be792f7f1b_0_4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g3c6d7a0b452_0_24"/>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a:t>Finding Q1 and Q3 is all about dividing your data into four equal "buckets." Once you've found the median, you're halfway there because the quartiles are just the medians of the lower and upper halves.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Ex: 3, 7, 8, 12, 13, 15, 18, 20, 22</a:t>
            </a:r>
            <a:endParaRPr/>
          </a:p>
        </p:txBody>
      </p:sp>
      <p:sp>
        <p:nvSpPr>
          <p:cNvPr id="568" name="Google Shape;568;g3c6d7a0b452_0_2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g3c6d7a0b452_0_31"/>
          <p:cNvSpPr txBox="1"/>
          <p:nvPr>
            <p:ph idx="1" type="body"/>
          </p:nvPr>
        </p:nvSpPr>
        <p:spPr>
          <a:xfrm>
            <a:off x="457200" y="452650"/>
            <a:ext cx="8229600" cy="5673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3000">
                <a:latin typeface="Times New Roman"/>
                <a:ea typeface="Times New Roman"/>
                <a:cs typeface="Times New Roman"/>
                <a:sym typeface="Times New Roman"/>
              </a:rPr>
              <a:t>1. Order the Data</a:t>
            </a:r>
            <a:endParaRPr b="1" sz="3000">
              <a:latin typeface="Times New Roman"/>
              <a:ea typeface="Times New Roman"/>
              <a:cs typeface="Times New Roman"/>
              <a:sym typeface="Times New Roman"/>
            </a:endParaRPr>
          </a:p>
          <a:p>
            <a:pPr indent="0" lvl="0" marL="0" rtl="0" algn="l">
              <a:lnSpc>
                <a:spcPct val="115000"/>
              </a:lnSpc>
              <a:spcBef>
                <a:spcPts val="400"/>
              </a:spcBef>
              <a:spcAft>
                <a:spcPts val="0"/>
              </a:spcAft>
              <a:buClr>
                <a:schemeClr val="dk1"/>
              </a:buClr>
              <a:buSzPts val="1100"/>
              <a:buFont typeface="Arial"/>
              <a:buNone/>
            </a:pPr>
            <a:r>
              <a:rPr lang="en-US" sz="3000">
                <a:latin typeface="Times New Roman"/>
                <a:ea typeface="Times New Roman"/>
                <a:cs typeface="Times New Roman"/>
                <a:sym typeface="Times New Roman"/>
              </a:rPr>
              <a:t>You cannot find quartiles until your data is in order from least to greatest.</a:t>
            </a:r>
            <a:endParaRPr sz="3000">
              <a:latin typeface="Times New Roman"/>
              <a:ea typeface="Times New Roman"/>
              <a:cs typeface="Times New Roman"/>
              <a:sym typeface="Times New Roman"/>
            </a:endParaRPr>
          </a:p>
          <a:p>
            <a:pPr indent="0" lvl="0" marL="0" marR="381000" rtl="0" algn="l">
              <a:lnSpc>
                <a:spcPct val="115000"/>
              </a:lnSpc>
              <a:spcBef>
                <a:spcPts val="1200"/>
              </a:spcBef>
              <a:spcAft>
                <a:spcPts val="0"/>
              </a:spcAft>
              <a:buNone/>
            </a:pPr>
            <a:r>
              <a:rPr i="1" lang="en-US" sz="3000">
                <a:latin typeface="Times New Roman"/>
                <a:ea typeface="Times New Roman"/>
                <a:cs typeface="Times New Roman"/>
                <a:sym typeface="Times New Roman"/>
              </a:rPr>
              <a:t>Our example is already ordered:</a:t>
            </a:r>
            <a:r>
              <a:rPr lang="en-US" sz="3000">
                <a:latin typeface="Times New Roman"/>
                <a:ea typeface="Times New Roman"/>
                <a:cs typeface="Times New Roman"/>
                <a:sym typeface="Times New Roman"/>
              </a:rPr>
              <a:t> 3, 7, 8, 12, 13, 15, 18, 20, 22</a:t>
            </a:r>
            <a:endParaRPr sz="30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3000">
                <a:latin typeface="Times New Roman"/>
                <a:ea typeface="Times New Roman"/>
                <a:cs typeface="Times New Roman"/>
                <a:sym typeface="Times New Roman"/>
              </a:rPr>
              <a:t>2. Find the Median (Q2)</a:t>
            </a:r>
            <a:endParaRPr b="1" sz="3000">
              <a:latin typeface="Times New Roman"/>
              <a:ea typeface="Times New Roman"/>
              <a:cs typeface="Times New Roman"/>
              <a:sym typeface="Times New Roman"/>
            </a:endParaRPr>
          </a:p>
          <a:p>
            <a:pPr indent="0" lvl="0" marL="0" rtl="0" algn="l">
              <a:lnSpc>
                <a:spcPct val="115000"/>
              </a:lnSpc>
              <a:spcBef>
                <a:spcPts val="400"/>
              </a:spcBef>
              <a:spcAft>
                <a:spcPts val="0"/>
              </a:spcAft>
              <a:buNone/>
            </a:pPr>
            <a:r>
              <a:rPr lang="en-US" sz="3000">
                <a:latin typeface="Times New Roman"/>
                <a:ea typeface="Times New Roman"/>
                <a:cs typeface="Times New Roman"/>
                <a:sym typeface="Times New Roman"/>
              </a:rPr>
              <a:t>In this set of 9 numbers, the 5th no is the center.</a:t>
            </a:r>
            <a:endParaRPr sz="3000">
              <a:latin typeface="Times New Roman"/>
              <a:ea typeface="Times New Roman"/>
              <a:cs typeface="Times New Roman"/>
              <a:sym typeface="Times New Roman"/>
            </a:endParaRPr>
          </a:p>
          <a:p>
            <a:pPr indent="-419100" lvl="0" marL="457200" rtl="0" algn="l">
              <a:lnSpc>
                <a:spcPct val="115000"/>
              </a:lnSpc>
              <a:spcBef>
                <a:spcPts val="1200"/>
              </a:spcBef>
              <a:spcAft>
                <a:spcPts val="0"/>
              </a:spcAft>
              <a:buSzPts val="3000"/>
              <a:buFont typeface="Times New Roman"/>
              <a:buChar char="●"/>
            </a:pPr>
            <a:r>
              <a:rPr b="1" lang="en-US" sz="3000">
                <a:latin typeface="Times New Roman"/>
                <a:ea typeface="Times New Roman"/>
                <a:cs typeface="Times New Roman"/>
                <a:sym typeface="Times New Roman"/>
              </a:rPr>
              <a:t>Median (Q2) = 13</a:t>
            </a:r>
            <a:endParaRPr b="1" sz="3000">
              <a:latin typeface="Times New Roman"/>
              <a:ea typeface="Times New Roman"/>
              <a:cs typeface="Times New Roman"/>
              <a:sym typeface="Times New Roman"/>
            </a:endParaRPr>
          </a:p>
          <a:p>
            <a:pPr indent="0" lvl="0" marL="0" rtl="0" algn="l">
              <a:spcBef>
                <a:spcPts val="1200"/>
              </a:spcBef>
              <a:spcAft>
                <a:spcPts val="0"/>
              </a:spcAft>
              <a:buNone/>
            </a:pPr>
            <a:r>
              <a:t/>
            </a:r>
            <a:endParaRPr sz="3000"/>
          </a:p>
        </p:txBody>
      </p:sp>
      <p:sp>
        <p:nvSpPr>
          <p:cNvPr id="575" name="Google Shape;575;g3c6d7a0b452_0_3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g3c6d7a0b452_0_43"/>
          <p:cNvSpPr txBox="1"/>
          <p:nvPr>
            <p:ph idx="1" type="body"/>
          </p:nvPr>
        </p:nvSpPr>
        <p:spPr>
          <a:xfrm>
            <a:off x="363350" y="423775"/>
            <a:ext cx="8323500" cy="5702400"/>
          </a:xfrm>
          <a:prstGeom prst="rect">
            <a:avLst/>
          </a:prstGeom>
        </p:spPr>
        <p:txBody>
          <a:bodyPr anchorCtr="0" anchor="t" bIns="45700" lIns="91425" spcFirstLastPara="1" rIns="91425" wrap="square" tIns="45700">
            <a:normAutofit fontScale="85000" lnSpcReduction="20000"/>
          </a:bodyPr>
          <a:lstStyle/>
          <a:p>
            <a:pPr indent="0" lvl="0" marL="0" rtl="0" algn="l">
              <a:lnSpc>
                <a:spcPct val="115000"/>
              </a:lnSpc>
              <a:spcBef>
                <a:spcPts val="0"/>
              </a:spcBef>
              <a:spcAft>
                <a:spcPts val="0"/>
              </a:spcAft>
              <a:buClr>
                <a:schemeClr val="dk1"/>
              </a:buClr>
              <a:buSzPct val="36666"/>
              <a:buFont typeface="Arial"/>
              <a:buNone/>
            </a:pPr>
            <a:r>
              <a:rPr b="1" lang="en-US" sz="3000">
                <a:latin typeface="Times New Roman"/>
                <a:ea typeface="Times New Roman"/>
                <a:cs typeface="Times New Roman"/>
                <a:sym typeface="Times New Roman"/>
              </a:rPr>
              <a:t>3. Find Q1 (Lower Quartile)</a:t>
            </a:r>
            <a:endParaRPr b="1" sz="3000">
              <a:latin typeface="Times New Roman"/>
              <a:ea typeface="Times New Roman"/>
              <a:cs typeface="Times New Roman"/>
              <a:sym typeface="Times New Roman"/>
            </a:endParaRPr>
          </a:p>
          <a:p>
            <a:pPr indent="0" lvl="0" marL="0" rtl="0" algn="l">
              <a:lnSpc>
                <a:spcPct val="115000"/>
              </a:lnSpc>
              <a:spcBef>
                <a:spcPts val="400"/>
              </a:spcBef>
              <a:spcAft>
                <a:spcPts val="0"/>
              </a:spcAft>
              <a:buClr>
                <a:schemeClr val="dk1"/>
              </a:buClr>
              <a:buSzPct val="36666"/>
              <a:buFont typeface="Arial"/>
              <a:buNone/>
            </a:pPr>
            <a:r>
              <a:rPr lang="en-US" sz="3000">
                <a:latin typeface="Times New Roman"/>
                <a:ea typeface="Times New Roman"/>
                <a:cs typeface="Times New Roman"/>
                <a:sym typeface="Times New Roman"/>
              </a:rPr>
              <a:t>Q1 is the median of the </a:t>
            </a:r>
            <a:r>
              <a:rPr b="1" lang="en-US" sz="3000">
                <a:latin typeface="Times New Roman"/>
                <a:ea typeface="Times New Roman"/>
                <a:cs typeface="Times New Roman"/>
                <a:sym typeface="Times New Roman"/>
              </a:rPr>
              <a:t>lower half</a:t>
            </a:r>
            <a:r>
              <a:rPr lang="en-US" sz="3000">
                <a:latin typeface="Times New Roman"/>
                <a:ea typeface="Times New Roman"/>
                <a:cs typeface="Times New Roman"/>
                <a:sym typeface="Times New Roman"/>
              </a:rPr>
              <a:t> of the data (everything to the left of the actual median).</a:t>
            </a:r>
            <a:endParaRPr sz="3000">
              <a:latin typeface="Times New Roman"/>
              <a:ea typeface="Times New Roman"/>
              <a:cs typeface="Times New Roman"/>
              <a:sym typeface="Times New Roman"/>
            </a:endParaRPr>
          </a:p>
          <a:p>
            <a:pPr indent="-390525" lvl="0" marL="457200" rtl="0" algn="l">
              <a:lnSpc>
                <a:spcPct val="115000"/>
              </a:lnSpc>
              <a:spcBef>
                <a:spcPts val="1200"/>
              </a:spcBef>
              <a:spcAft>
                <a:spcPts val="0"/>
              </a:spcAft>
              <a:buSzPct val="100000"/>
              <a:buChar char="●"/>
            </a:pPr>
            <a:r>
              <a:rPr b="1" lang="en-US" sz="3000">
                <a:latin typeface="Times New Roman"/>
                <a:ea typeface="Times New Roman"/>
                <a:cs typeface="Times New Roman"/>
                <a:sym typeface="Times New Roman"/>
              </a:rPr>
              <a:t>Lower Half:</a:t>
            </a:r>
            <a:r>
              <a:rPr lang="en-US" sz="3000">
                <a:latin typeface="Times New Roman"/>
                <a:ea typeface="Times New Roman"/>
                <a:cs typeface="Times New Roman"/>
                <a:sym typeface="Times New Roman"/>
              </a:rPr>
              <a:t> 3, 7, 8, 12</a:t>
            </a:r>
            <a:endParaRPr sz="3000">
              <a:latin typeface="Times New Roman"/>
              <a:ea typeface="Times New Roman"/>
              <a:cs typeface="Times New Roman"/>
              <a:sym typeface="Times New Roman"/>
            </a:endParaRPr>
          </a:p>
          <a:p>
            <a:pPr indent="-390525" lvl="0" marL="457200" rtl="0" algn="l">
              <a:lnSpc>
                <a:spcPct val="115000"/>
              </a:lnSpc>
              <a:spcBef>
                <a:spcPts val="0"/>
              </a:spcBef>
              <a:spcAft>
                <a:spcPts val="0"/>
              </a:spcAft>
              <a:buSzPct val="100000"/>
              <a:buFont typeface="Times New Roman"/>
              <a:buChar char="●"/>
            </a:pPr>
            <a:r>
              <a:rPr lang="en-US" sz="3000">
                <a:latin typeface="Times New Roman"/>
                <a:ea typeface="Times New Roman"/>
                <a:cs typeface="Times New Roman"/>
                <a:sym typeface="Times New Roman"/>
              </a:rPr>
              <a:t>Since there are four numbers, the median is the average of the two middle values (7 and 8):</a:t>
            </a:r>
            <a:endParaRPr sz="30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3000">
              <a:latin typeface="Times New Roman"/>
              <a:ea typeface="Times New Roman"/>
              <a:cs typeface="Times New Roman"/>
              <a:sym typeface="Times New Roman"/>
            </a:endParaRPr>
          </a:p>
          <a:p>
            <a:pPr indent="0" lvl="0" marL="0" rtl="0" algn="ctr">
              <a:lnSpc>
                <a:spcPct val="115000"/>
              </a:lnSpc>
              <a:spcBef>
                <a:spcPts val="1200"/>
              </a:spcBef>
              <a:spcAft>
                <a:spcPts val="0"/>
              </a:spcAft>
              <a:buNone/>
            </a:pPr>
            <a:r>
              <a:rPr lang="en-US" sz="3000">
                <a:latin typeface="Times New Roman"/>
                <a:ea typeface="Times New Roman"/>
                <a:cs typeface="Times New Roman"/>
                <a:sym typeface="Times New Roman"/>
              </a:rPr>
              <a:t>7+8/2 = 7.5</a:t>
            </a:r>
            <a:endParaRPr sz="30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3000">
                <a:latin typeface="Times New Roman"/>
                <a:ea typeface="Times New Roman"/>
                <a:cs typeface="Times New Roman"/>
                <a:sym typeface="Times New Roman"/>
              </a:rPr>
              <a:t>Q1 = 7.5</a:t>
            </a:r>
            <a:endParaRPr sz="3000">
              <a:latin typeface="Times New Roman"/>
              <a:ea typeface="Times New Roman"/>
              <a:cs typeface="Times New Roman"/>
              <a:sym typeface="Times New Roman"/>
            </a:endParaRPr>
          </a:p>
          <a:p>
            <a:pPr indent="0" lvl="0" marL="0" marR="381000" rtl="0" algn="l">
              <a:lnSpc>
                <a:spcPct val="115000"/>
              </a:lnSpc>
              <a:spcBef>
                <a:spcPts val="1200"/>
              </a:spcBef>
              <a:spcAft>
                <a:spcPts val="0"/>
              </a:spcAft>
              <a:buClr>
                <a:schemeClr val="dk1"/>
              </a:buClr>
              <a:buSzPct val="36666"/>
              <a:buFont typeface="Arial"/>
              <a:buNone/>
            </a:pPr>
            <a:r>
              <a:t/>
            </a:r>
            <a:endParaRPr sz="3000"/>
          </a:p>
          <a:p>
            <a:pPr indent="0" lvl="0" marL="0" rtl="0" algn="l">
              <a:spcBef>
                <a:spcPts val="1200"/>
              </a:spcBef>
              <a:spcAft>
                <a:spcPts val="0"/>
              </a:spcAft>
              <a:buClr>
                <a:schemeClr val="dk1"/>
              </a:buClr>
              <a:buSzPct val="36666"/>
              <a:buFont typeface="Arial"/>
              <a:buNone/>
            </a:pPr>
            <a:r>
              <a:t/>
            </a:r>
            <a:endParaRPr sz="3000"/>
          </a:p>
          <a:p>
            <a:pPr indent="0" lvl="0" marL="0" rtl="0" algn="l">
              <a:spcBef>
                <a:spcPts val="360"/>
              </a:spcBef>
              <a:spcAft>
                <a:spcPts val="0"/>
              </a:spcAft>
              <a:buNone/>
            </a:pPr>
            <a:r>
              <a:t/>
            </a:r>
            <a:endParaRPr/>
          </a:p>
        </p:txBody>
      </p:sp>
      <p:sp>
        <p:nvSpPr>
          <p:cNvPr id="582" name="Google Shape;582;g3c6d7a0b452_0_4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g3c6d7a0b452_0_50"/>
          <p:cNvSpPr txBox="1"/>
          <p:nvPr>
            <p:ph idx="1" type="body"/>
          </p:nvPr>
        </p:nvSpPr>
        <p:spPr>
          <a:xfrm>
            <a:off x="406675" y="481525"/>
            <a:ext cx="8280000" cy="564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a:latin typeface="Times New Roman"/>
                <a:ea typeface="Times New Roman"/>
                <a:cs typeface="Times New Roman"/>
                <a:sym typeface="Times New Roman"/>
              </a:rPr>
              <a:t>4. Find Q3 (Upper Quartile)</a:t>
            </a:r>
            <a:endParaRPr b="1">
              <a:latin typeface="Times New Roman"/>
              <a:ea typeface="Times New Roman"/>
              <a:cs typeface="Times New Roman"/>
              <a:sym typeface="Times New Roman"/>
            </a:endParaRPr>
          </a:p>
          <a:p>
            <a:pPr indent="0" lvl="0" marL="0" rtl="0" algn="l">
              <a:lnSpc>
                <a:spcPct val="115000"/>
              </a:lnSpc>
              <a:spcBef>
                <a:spcPts val="400"/>
              </a:spcBef>
              <a:spcAft>
                <a:spcPts val="0"/>
              </a:spcAft>
              <a:buClr>
                <a:schemeClr val="dk1"/>
              </a:buClr>
              <a:buSzPts val="1100"/>
              <a:buFont typeface="Arial"/>
              <a:buNone/>
            </a:pPr>
            <a:r>
              <a:rPr lang="en-US">
                <a:latin typeface="Times New Roman"/>
                <a:ea typeface="Times New Roman"/>
                <a:cs typeface="Times New Roman"/>
                <a:sym typeface="Times New Roman"/>
              </a:rPr>
              <a:t>Q3 is the median of the upper half of the data (everything to the right of the actual median).</a:t>
            </a:r>
            <a:endParaRPr>
              <a:latin typeface="Times New Roman"/>
              <a:ea typeface="Times New Roman"/>
              <a:cs typeface="Times New Roman"/>
              <a:sym typeface="Times New Roman"/>
            </a:endParaRPr>
          </a:p>
          <a:p>
            <a:pPr indent="-431800" lvl="0" marL="457200" rtl="0" algn="l">
              <a:lnSpc>
                <a:spcPct val="115000"/>
              </a:lnSpc>
              <a:spcBef>
                <a:spcPts val="1200"/>
              </a:spcBef>
              <a:spcAft>
                <a:spcPts val="0"/>
              </a:spcAft>
              <a:buSzPts val="3200"/>
              <a:buChar char="●"/>
            </a:pPr>
            <a:r>
              <a:rPr b="1" lang="en-US">
                <a:latin typeface="Times New Roman"/>
                <a:ea typeface="Times New Roman"/>
                <a:cs typeface="Times New Roman"/>
                <a:sym typeface="Times New Roman"/>
              </a:rPr>
              <a:t>Upper Half:</a:t>
            </a:r>
            <a:r>
              <a:rPr lang="en-US">
                <a:latin typeface="Times New Roman"/>
                <a:ea typeface="Times New Roman"/>
                <a:cs typeface="Times New Roman"/>
                <a:sym typeface="Times New Roman"/>
              </a:rPr>
              <a:t> 15, 18, 20, 22</a:t>
            </a:r>
            <a:endParaRPr>
              <a:latin typeface="Times New Roman"/>
              <a:ea typeface="Times New Roman"/>
              <a:cs typeface="Times New Roman"/>
              <a:sym typeface="Times New Roman"/>
            </a:endParaRPr>
          </a:p>
          <a:p>
            <a:pPr indent="-431800" lvl="0" marL="457200" rtl="0" algn="l">
              <a:lnSpc>
                <a:spcPct val="115000"/>
              </a:lnSpc>
              <a:spcBef>
                <a:spcPts val="0"/>
              </a:spcBef>
              <a:spcAft>
                <a:spcPts val="0"/>
              </a:spcAft>
              <a:buSzPts val="3200"/>
              <a:buFont typeface="Times New Roman"/>
              <a:buChar char="●"/>
            </a:pPr>
            <a:r>
              <a:rPr lang="en-US">
                <a:latin typeface="Times New Roman"/>
                <a:ea typeface="Times New Roman"/>
                <a:cs typeface="Times New Roman"/>
                <a:sym typeface="Times New Roman"/>
              </a:rPr>
              <a:t>Again, average the two middle values (18 and 20):</a:t>
            </a:r>
            <a:endParaRPr>
              <a:latin typeface="Times New Roman"/>
              <a:ea typeface="Times New Roman"/>
              <a:cs typeface="Times New Roman"/>
              <a:sym typeface="Times New Roman"/>
            </a:endParaRPr>
          </a:p>
          <a:p>
            <a:pPr indent="0" lvl="0" marL="457200" rtl="0" algn="ctr">
              <a:lnSpc>
                <a:spcPct val="115000"/>
              </a:lnSpc>
              <a:spcBef>
                <a:spcPts val="1200"/>
              </a:spcBef>
              <a:spcAft>
                <a:spcPts val="0"/>
              </a:spcAft>
              <a:buNone/>
            </a:pPr>
            <a:r>
              <a:rPr lang="en-US">
                <a:latin typeface="Times New Roman"/>
                <a:ea typeface="Times New Roman"/>
                <a:cs typeface="Times New Roman"/>
                <a:sym typeface="Times New Roman"/>
              </a:rPr>
              <a:t>18+20/2 = 19</a:t>
            </a:r>
            <a:endParaRPr>
              <a:latin typeface="Times New Roman"/>
              <a:ea typeface="Times New Roman"/>
              <a:cs typeface="Times New Roman"/>
              <a:sym typeface="Times New Roman"/>
            </a:endParaRPr>
          </a:p>
          <a:p>
            <a:pPr indent="0" lvl="0" marL="457200" rtl="0" algn="ctr">
              <a:lnSpc>
                <a:spcPct val="115000"/>
              </a:lnSpc>
              <a:spcBef>
                <a:spcPts val="1200"/>
              </a:spcBef>
              <a:spcAft>
                <a:spcPts val="0"/>
              </a:spcAft>
              <a:buNone/>
            </a:pPr>
            <a:r>
              <a:rPr lang="en-US">
                <a:latin typeface="Times New Roman"/>
                <a:ea typeface="Times New Roman"/>
                <a:cs typeface="Times New Roman"/>
                <a:sym typeface="Times New Roman"/>
              </a:rPr>
              <a:t>Q3 = 19</a:t>
            </a:r>
            <a:endParaRPr>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b="1" lang="en-US">
                <a:latin typeface="Times New Roman"/>
                <a:ea typeface="Times New Roman"/>
                <a:cs typeface="Times New Roman"/>
                <a:sym typeface="Times New Roman"/>
              </a:rPr>
              <a:t>IQR = Q3 - Q1</a:t>
            </a:r>
            <a:endParaRPr b="1">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
        <p:nvSpPr>
          <p:cNvPr id="589" name="Google Shape;589;g3c6d7a0b452_0_5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c6d7a0b452_0_8"/>
          <p:cNvSpPr txBox="1"/>
          <p:nvPr>
            <p:ph idx="1" type="body"/>
          </p:nvPr>
        </p:nvSpPr>
        <p:spPr>
          <a:xfrm>
            <a:off x="457200" y="560675"/>
            <a:ext cx="8568900" cy="4541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sz="2400">
                <a:latin typeface="Arial"/>
                <a:ea typeface="Arial"/>
                <a:cs typeface="Arial"/>
                <a:sym typeface="Arial"/>
              </a:rPr>
              <a:t>The </a:t>
            </a:r>
            <a:r>
              <a:rPr b="1" lang="en-US" sz="2400">
                <a:latin typeface="Arial"/>
                <a:ea typeface="Arial"/>
                <a:cs typeface="Arial"/>
                <a:sym typeface="Arial"/>
              </a:rPr>
              <a:t>Five-Number Summary</a:t>
            </a:r>
            <a:r>
              <a:rPr lang="en-US" sz="2400">
                <a:latin typeface="Arial"/>
                <a:ea typeface="Arial"/>
                <a:cs typeface="Arial"/>
                <a:sym typeface="Arial"/>
              </a:rPr>
              <a:t> is essentially the "DNA" of a dataset it gives you a complete picture of the range, center, and spread without needing to look at every single data point.</a:t>
            </a:r>
            <a:endParaRPr sz="2400">
              <a:latin typeface="Arial"/>
              <a:ea typeface="Arial"/>
              <a:cs typeface="Arial"/>
              <a:sym typeface="Arial"/>
            </a:endParaRPr>
          </a:p>
          <a:p>
            <a:pPr indent="0" lvl="0" marL="0" rtl="0" algn="l">
              <a:spcBef>
                <a:spcPts val="360"/>
              </a:spcBef>
              <a:spcAft>
                <a:spcPts val="0"/>
              </a:spcAft>
              <a:buNone/>
            </a:pPr>
            <a:r>
              <a:t/>
            </a:r>
            <a:endParaRPr sz="24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2400">
                <a:latin typeface="Arial"/>
                <a:ea typeface="Arial"/>
                <a:cs typeface="Arial"/>
                <a:sym typeface="Arial"/>
              </a:rPr>
              <a:t>Breaking Down the Box Plot</a:t>
            </a:r>
            <a:endParaRPr b="1" sz="2400">
              <a:latin typeface="Arial"/>
              <a:ea typeface="Arial"/>
              <a:cs typeface="Arial"/>
              <a:sym typeface="Arial"/>
            </a:endParaRPr>
          </a:p>
          <a:p>
            <a:pPr indent="-381000" lvl="0" marL="457200" rtl="0" algn="l">
              <a:lnSpc>
                <a:spcPct val="115000"/>
              </a:lnSpc>
              <a:spcBef>
                <a:spcPts val="1200"/>
              </a:spcBef>
              <a:spcAft>
                <a:spcPts val="0"/>
              </a:spcAft>
              <a:buSzPts val="2400"/>
              <a:buChar char="●"/>
            </a:pPr>
            <a:r>
              <a:rPr b="1" lang="en-US" sz="2400">
                <a:latin typeface="Arial"/>
                <a:ea typeface="Arial"/>
                <a:cs typeface="Arial"/>
                <a:sym typeface="Arial"/>
              </a:rPr>
              <a:t>The Whiskers:</a:t>
            </a:r>
            <a:r>
              <a:rPr lang="en-US" sz="2400">
                <a:latin typeface="Arial"/>
                <a:ea typeface="Arial"/>
                <a:cs typeface="Arial"/>
                <a:sym typeface="Arial"/>
              </a:rPr>
              <a:t> These extend from the Minimum to Q1, and from Q3 to the Maximum. They show the full range of the data.</a:t>
            </a:r>
            <a:endParaRPr sz="2400">
              <a:latin typeface="Arial"/>
              <a:ea typeface="Arial"/>
              <a:cs typeface="Arial"/>
              <a:sym typeface="Arial"/>
            </a:endParaRPr>
          </a:p>
          <a:p>
            <a:pPr indent="-381000" lvl="0" marL="457200" rtl="0" algn="l">
              <a:lnSpc>
                <a:spcPct val="115000"/>
              </a:lnSpc>
              <a:spcBef>
                <a:spcPts val="0"/>
              </a:spcBef>
              <a:spcAft>
                <a:spcPts val="0"/>
              </a:spcAft>
              <a:buSzPts val="2400"/>
              <a:buChar char="●"/>
            </a:pPr>
            <a:r>
              <a:rPr b="1" lang="en-US" sz="2400">
                <a:latin typeface="Arial"/>
                <a:ea typeface="Arial"/>
                <a:cs typeface="Arial"/>
                <a:sym typeface="Arial"/>
              </a:rPr>
              <a:t>The Box:</a:t>
            </a:r>
            <a:r>
              <a:rPr lang="en-US" sz="2400">
                <a:latin typeface="Arial"/>
                <a:ea typeface="Arial"/>
                <a:cs typeface="Arial"/>
                <a:sym typeface="Arial"/>
              </a:rPr>
              <a:t> This represents the Interquartile Range (IQR), stretching from Q1 to Q3. This is where the middle 50% of your data lives.</a:t>
            </a:r>
            <a:endParaRPr sz="2400">
              <a:latin typeface="Arial"/>
              <a:ea typeface="Arial"/>
              <a:cs typeface="Arial"/>
              <a:sym typeface="Arial"/>
            </a:endParaRPr>
          </a:p>
          <a:p>
            <a:pPr indent="-381000" lvl="0" marL="457200" rtl="0" algn="l">
              <a:lnSpc>
                <a:spcPct val="115000"/>
              </a:lnSpc>
              <a:spcBef>
                <a:spcPts val="0"/>
              </a:spcBef>
              <a:spcAft>
                <a:spcPts val="0"/>
              </a:spcAft>
              <a:buSzPts val="2400"/>
              <a:buChar char="●"/>
            </a:pPr>
            <a:r>
              <a:rPr b="1" lang="en-US" sz="2400">
                <a:latin typeface="Arial"/>
                <a:ea typeface="Arial"/>
                <a:cs typeface="Arial"/>
                <a:sym typeface="Arial"/>
              </a:rPr>
              <a:t>The Median Line:</a:t>
            </a:r>
            <a:r>
              <a:rPr lang="en-US" sz="2400">
                <a:latin typeface="Arial"/>
                <a:ea typeface="Arial"/>
                <a:cs typeface="Arial"/>
                <a:sym typeface="Arial"/>
              </a:rPr>
              <a:t> This vertical line inside the box shows exactly where the middle value sits. It’s a great way to see if your data is "skewed" (leaning one way or the other).</a:t>
            </a:r>
            <a:endParaRPr sz="2400">
              <a:latin typeface="Arial"/>
              <a:ea typeface="Arial"/>
              <a:cs typeface="Arial"/>
              <a:sym typeface="Arial"/>
            </a:endParaRPr>
          </a:p>
          <a:p>
            <a:pPr indent="0" lvl="0" marL="0" rtl="0" algn="l">
              <a:spcBef>
                <a:spcPts val="1200"/>
              </a:spcBef>
              <a:spcAft>
                <a:spcPts val="0"/>
              </a:spcAft>
              <a:buNone/>
            </a:pPr>
            <a:r>
              <a:t/>
            </a:r>
            <a:endParaRPr sz="2400">
              <a:latin typeface="Arial"/>
              <a:ea typeface="Arial"/>
              <a:cs typeface="Arial"/>
              <a:sym typeface="Arial"/>
            </a:endParaRPr>
          </a:p>
        </p:txBody>
      </p:sp>
      <p:sp>
        <p:nvSpPr>
          <p:cNvPr id="596" name="Google Shape;596;g3c6d7a0b452_0_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42"/>
          <p:cNvSpPr txBox="1"/>
          <p:nvPr>
            <p:ph type="title"/>
          </p:nvPr>
        </p:nvSpPr>
        <p:spPr>
          <a:xfrm>
            <a:off x="914400" y="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References</a:t>
            </a:r>
            <a:endParaRPr/>
          </a:p>
        </p:txBody>
      </p:sp>
      <p:sp>
        <p:nvSpPr>
          <p:cNvPr id="602" name="Google Shape;602;p42"/>
          <p:cNvSpPr txBox="1"/>
          <p:nvPr>
            <p:ph idx="1" type="body"/>
          </p:nvPr>
        </p:nvSpPr>
        <p:spPr>
          <a:xfrm>
            <a:off x="285720" y="1214422"/>
            <a:ext cx="857256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None/>
            </a:pPr>
            <a:r>
              <a:rPr lang="en-US"/>
              <a:t>[1] Stuart Russell, Peter Norvig, ―Artificial       Intelligence‖, A Modern Approach, Pearson Education/Prentice Hall of India. 	</a:t>
            </a:r>
            <a:endParaRPr/>
          </a:p>
          <a:p>
            <a:pPr indent="-342900" lvl="0" marL="342900" rtl="0" algn="l">
              <a:spcBef>
                <a:spcPts val="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None/>
            </a:pPr>
            <a:r>
              <a:t/>
            </a:r>
            <a:endParaRPr/>
          </a:p>
        </p:txBody>
      </p:sp>
      <p:sp>
        <p:nvSpPr>
          <p:cNvPr id="603" name="Google Shape;603;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2017-08-15T14:16:37Z</dcterms:created>
  <dc:creator>DELL</dc:creator>
</cp:coreProperties>
</file>